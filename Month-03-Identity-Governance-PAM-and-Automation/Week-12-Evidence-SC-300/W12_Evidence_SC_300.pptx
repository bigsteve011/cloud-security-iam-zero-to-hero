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Week 12: Hygiene Scanner, Evidence Packs &amp; AI-Assisted Reviews → SC-300. Part of Month 3 (Identity Governance, PAM &amp; Automation). Flagship project P3 (iam-governance-engine).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A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A3F"/>
          </a:solidFill>
          <a:ln/>
        </p:spPr>
      </p:sp>
      <p:sp>
        <p:nvSpPr>
          <p:cNvPr id="3" name="Shape 1"/>
          <p:cNvSpPr/>
          <p:nvPr/>
        </p:nvSpPr>
        <p:spPr>
          <a:xfrm>
            <a:off x="9326880" y="-1463040"/>
            <a:ext cx="4206240" cy="4206240"/>
          </a:xfrm>
          <a:prstGeom prst="ellipse">
            <a:avLst/>
          </a:prstGeom>
          <a:ln w="12700">
            <a:solidFill>
              <a:srgbClr val="17C3B2">
                <a:alpha val="5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18320" y="-1554480"/>
            <a:ext cx="4754880" cy="4754880"/>
          </a:xfrm>
          <a:prstGeom prst="ellipse">
            <a:avLst/>
          </a:prstGeom>
          <a:ln w="12700">
            <a:solidFill>
              <a:srgbClr val="17C3B2">
                <a:alpha val="3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509760" y="-1645920"/>
            <a:ext cx="5303520" cy="5303520"/>
          </a:xfrm>
          <a:prstGeom prst="ellipse">
            <a:avLst/>
          </a:prstGeom>
          <a:ln w="12700">
            <a:solidFill>
              <a:srgbClr val="17C3B2">
                <a:alpha val="2600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371600"/>
            <a:ext cx="1097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dirty="0">
                <a:solidFill>
                  <a:srgbClr val="000000"/>
                </a:solidFill>
              </a:rPr>
              <a:t>🔐</a:t>
            </a:r>
            <a:endParaRPr lang="en-US" sz="5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56032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17C3B2"/>
                </a:solidFill>
              </a:rPr>
              <a:t>WEEK 12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971800"/>
            <a:ext cx="89611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Hygiene Scanner, Evidence Packs &amp; AI-Assisted Reviews → SC-300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658368" y="48006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A6E0"/>
                </a:solidFill>
              </a:rPr>
              <a:t>MONTH 3 · IDENTITY GOVERNANCE, PAM &amp; AUTOMATION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58368" y="52120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EC2E6"/>
                </a:solidFill>
              </a:rPr>
              <a:t>IAM &amp; Cloud Security Engineer — Zero to Hero</a:t>
            </a:r>
            <a:pPr indent="0" marL="0">
              <a:buNone/>
            </a:pPr>
            <a:r>
              <a:rPr lang="en-US" sz="1300" dirty="0">
                <a:solidFill>
                  <a:srgbClr val="6C7A9C"/>
                </a:solidFill>
              </a:rPr>
              <a:t>   ·   Dec 2026–Jan 2027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5989320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C7A9C"/>
                </a:solidFill>
              </a:rPr>
              <a:t>Continuity case study: Wisła Bank (EU bank · hybrid AD · Entra ID · Okta · AWS + Azure · AI agents)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7C3B2"/>
                </a:solidFill>
              </a:rPr>
              <a:t>SESSION AGENDA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What we cover this week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W12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13232" y="1783080"/>
            <a:ext cx="347472" cy="347472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7830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1600200"/>
            <a:ext cx="4572000" cy="7132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24D"/>
                </a:solidFill>
              </a:rPr>
              <a:t>Identity hygiene metrics: stale, orphaned, MFA gaps, dormant privilege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2441448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13232" y="2624328"/>
            <a:ext cx="347472" cy="347472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26243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2441448"/>
            <a:ext cx="4572000" cy="7132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24D"/>
                </a:solidFill>
              </a:rPr>
              <a:t>Generating timestamped evidence auditors accept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3282696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13232" y="3465576"/>
            <a:ext cx="347472" cy="347472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13232" y="34655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207008" y="3282696"/>
            <a:ext cx="4572000" cy="7132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24D"/>
                </a:solidFill>
              </a:rPr>
              <a:t>LLM-assisted review summaries: prompt design and data minimisation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217920" y="1600200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382512" y="1783080"/>
            <a:ext cx="347472" cy="347472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382512" y="17830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876288" y="1600200"/>
            <a:ext cx="4572000" cy="7132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24D"/>
                </a:solidFill>
              </a:rPr>
              <a:t>Human-in-the-loop approval and logging of AI output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217920" y="2441448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382512" y="2624328"/>
            <a:ext cx="347472" cy="347472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382512" y="26243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6876288" y="2441448"/>
            <a:ext cx="4572000" cy="7132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24D"/>
                </a:solidFill>
              </a:rPr>
              <a:t>SC-300 exam strategy and practice assessment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7C3B2"/>
                </a:solidFill>
              </a:rPr>
              <a:t>LEARNING OBJECTIVES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By the end of this week you can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W12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64592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7C3B2"/>
                </a:solidFill>
              </a:rPr>
              <a:t>✓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645920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24D"/>
                </a:solidFill>
              </a:rPr>
              <a:t>Ship the hygiene scanner and evidence pack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234440" y="2395728"/>
            <a:ext cx="10149840" cy="0"/>
          </a:xfrm>
          <a:prstGeom prst="line">
            <a:avLst/>
          </a:prstGeom>
          <a:noFill/>
          <a:ln w="12700">
            <a:solidFill>
              <a:srgbClr val="D6E0F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256032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7C3B2"/>
                </a:solidFill>
              </a:rPr>
              <a:t>✓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2560320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24D"/>
                </a:solidFill>
              </a:rPr>
              <a:t>Add an AI summary with mandatory approval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1234440" y="3310128"/>
            <a:ext cx="10149840" cy="0"/>
          </a:xfrm>
          <a:prstGeom prst="line">
            <a:avLst/>
          </a:prstGeom>
          <a:noFill/>
          <a:ln w="12700">
            <a:solidFill>
              <a:srgbClr val="D6E0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347472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7C3B2"/>
                </a:solidFill>
              </a:rPr>
              <a:t>✓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3474720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24D"/>
                </a:solidFill>
              </a:rPr>
              <a:t>Score 80%+ on the SC-300 practice assessment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1234440" y="4224528"/>
            <a:ext cx="10149840" cy="0"/>
          </a:xfrm>
          <a:prstGeom prst="line">
            <a:avLst/>
          </a:prstGeom>
          <a:noFill/>
          <a:ln w="12700">
            <a:solidFill>
              <a:srgbClr val="D6E0F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" y="438912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7C3B2"/>
                </a:solidFill>
              </a:rPr>
              <a:t>✓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4389120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24D"/>
                </a:solidFill>
              </a:rPr>
              <a:t>Book and pass SC-300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7C3B2"/>
                </a:solidFill>
              </a:rPr>
              <a:t>CORE CONCEPTS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The ideas that matter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W12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984248"/>
            <a:ext cx="5440680" cy="18288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587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41248" y="2240280"/>
            <a:ext cx="182880" cy="182880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152144" y="2130552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A3F"/>
                </a:solidFill>
              </a:rPr>
              <a:t>Stale account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59536" y="2642616"/>
            <a:ext cx="48920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4324D"/>
                </a:solidFill>
              </a:rPr>
              <a:t>No sign-in for 90 days. Disable, then delete after 30.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309360" y="1984248"/>
            <a:ext cx="5440680" cy="18288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587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601968" y="2240280"/>
            <a:ext cx="182880" cy="182880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912864" y="2130552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A3F"/>
                </a:solidFill>
              </a:rPr>
              <a:t>Evidence pack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620256" y="2642616"/>
            <a:ext cx="48920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4324D"/>
                </a:solidFill>
              </a:rPr>
              <a:t>Report + raw data + hash + timestamp + scope statement.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4087368"/>
            <a:ext cx="5440680" cy="18288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587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41248" y="4343400"/>
            <a:ext cx="182880" cy="182880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152144" y="4233672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A3F"/>
                </a:solidFill>
              </a:rPr>
              <a:t>Human in the loop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59536" y="4745736"/>
            <a:ext cx="48920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4324D"/>
                </a:solidFill>
              </a:rPr>
              <a:t>AI drafts, a named human decides; both are logged.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309360" y="4087368"/>
            <a:ext cx="5440680" cy="18288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587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01968" y="4343400"/>
            <a:ext cx="182880" cy="182880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912864" y="4233672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A3F"/>
                </a:solidFill>
              </a:rPr>
              <a:t>Data minimisation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6620256" y="4745736"/>
            <a:ext cx="48920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4324D"/>
                </a:solidFill>
              </a:rPr>
              <a:t>Send the LLM only what the summary needs. No secrets, no PII beyond need.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7C3B2"/>
                </a:solidFill>
              </a:rPr>
              <a:t>HOW IT FITS TOGETHER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Evidence &amp; SC-300 — the flow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W12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3017520"/>
            <a:ext cx="1810512" cy="1371600"/>
          </a:xfrm>
          <a:prstGeom prst="roundRect">
            <a:avLst>
              <a:gd name="adj" fmla="val 5333"/>
            </a:avLst>
          </a:prstGeom>
          <a:solidFill>
            <a:srgbClr val="0A1A3F"/>
          </a:solidFill>
          <a:ln w="19050">
            <a:solidFill>
              <a:srgbClr val="0A1A3F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640080" y="30906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A6E0"/>
                </a:solidFill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3291840"/>
            <a:ext cx="1664208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Collect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2414016" y="3538728"/>
            <a:ext cx="384048" cy="329184"/>
          </a:xfrm>
          <a:prstGeom prst="chevron">
            <a:avLst/>
          </a:prstGeom>
          <a:solidFill>
            <a:srgbClr val="17C3B2"/>
          </a:solidFill>
          <a:ln/>
        </p:spPr>
      </p:sp>
      <p:sp>
        <p:nvSpPr>
          <p:cNvPr id="9" name="Shape 7"/>
          <p:cNvSpPr/>
          <p:nvPr/>
        </p:nvSpPr>
        <p:spPr>
          <a:xfrm>
            <a:off x="2862072" y="3017520"/>
            <a:ext cx="1810512" cy="1371600"/>
          </a:xfrm>
          <a:prstGeom prst="roundRect">
            <a:avLst>
              <a:gd name="adj" fmla="val 5333"/>
            </a:avLst>
          </a:prstGeom>
          <a:solidFill>
            <a:srgbClr val="EEF3FB"/>
          </a:solidFill>
          <a:ln w="19050">
            <a:solidFill>
              <a:srgbClr val="17C3B2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2953512" y="30906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C3B2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2935224" y="3291840"/>
            <a:ext cx="1664208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A1A3F"/>
                </a:solidFill>
              </a:rPr>
              <a:t>Analyse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727448" y="3538728"/>
            <a:ext cx="384048" cy="329184"/>
          </a:xfrm>
          <a:prstGeom prst="chevron">
            <a:avLst/>
          </a:prstGeom>
          <a:solidFill>
            <a:srgbClr val="17C3B2"/>
          </a:solidFill>
          <a:ln/>
        </p:spPr>
      </p:sp>
      <p:sp>
        <p:nvSpPr>
          <p:cNvPr id="13" name="Shape 11"/>
          <p:cNvSpPr/>
          <p:nvPr/>
        </p:nvSpPr>
        <p:spPr>
          <a:xfrm>
            <a:off x="5175504" y="3017520"/>
            <a:ext cx="1810512" cy="1371600"/>
          </a:xfrm>
          <a:prstGeom prst="roundRect">
            <a:avLst>
              <a:gd name="adj" fmla="val 5333"/>
            </a:avLst>
          </a:prstGeom>
          <a:solidFill>
            <a:srgbClr val="EEF3FB"/>
          </a:solidFill>
          <a:ln w="19050">
            <a:solidFill>
              <a:srgbClr val="17C3B2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5266944" y="30906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C3B2"/>
                </a:solidFill>
              </a:rPr>
              <a:t>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248656" y="3291840"/>
            <a:ext cx="1664208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A1A3F"/>
                </a:solidFill>
              </a:rPr>
              <a:t>AI summary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040880" y="3538728"/>
            <a:ext cx="384048" cy="329184"/>
          </a:xfrm>
          <a:prstGeom prst="chevron">
            <a:avLst/>
          </a:prstGeom>
          <a:solidFill>
            <a:srgbClr val="17C3B2"/>
          </a:solidFill>
          <a:ln/>
        </p:spPr>
      </p:sp>
      <p:sp>
        <p:nvSpPr>
          <p:cNvPr id="17" name="Shape 15"/>
          <p:cNvSpPr/>
          <p:nvPr/>
        </p:nvSpPr>
        <p:spPr>
          <a:xfrm>
            <a:off x="7488936" y="3017520"/>
            <a:ext cx="1810512" cy="1371600"/>
          </a:xfrm>
          <a:prstGeom prst="roundRect">
            <a:avLst>
              <a:gd name="adj" fmla="val 5333"/>
            </a:avLst>
          </a:prstGeom>
          <a:solidFill>
            <a:srgbClr val="EEF3FB"/>
          </a:solidFill>
          <a:ln w="19050">
            <a:solidFill>
              <a:srgbClr val="17C3B2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7580376" y="30906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C3B2"/>
                </a:solidFill>
              </a:rPr>
              <a:t>4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7562088" y="3291840"/>
            <a:ext cx="1664208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A1A3F"/>
                </a:solidFill>
              </a:rPr>
              <a:t>Human approval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9354312" y="3538728"/>
            <a:ext cx="384048" cy="329184"/>
          </a:xfrm>
          <a:prstGeom prst="chevron">
            <a:avLst/>
          </a:prstGeom>
          <a:solidFill>
            <a:srgbClr val="17C3B2"/>
          </a:solidFill>
          <a:ln/>
        </p:spPr>
      </p:sp>
      <p:sp>
        <p:nvSpPr>
          <p:cNvPr id="21" name="Shape 19"/>
          <p:cNvSpPr/>
          <p:nvPr/>
        </p:nvSpPr>
        <p:spPr>
          <a:xfrm>
            <a:off x="9802368" y="3017520"/>
            <a:ext cx="1810512" cy="1371600"/>
          </a:xfrm>
          <a:prstGeom prst="roundRect">
            <a:avLst>
              <a:gd name="adj" fmla="val 5333"/>
            </a:avLst>
          </a:prstGeom>
          <a:solidFill>
            <a:srgbClr val="0A1A3F"/>
          </a:solidFill>
          <a:ln w="19050">
            <a:solidFill>
              <a:srgbClr val="0A1A3F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9893808" y="30906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A6E0"/>
                </a:solidFill>
              </a:rPr>
              <a:t>5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875520" y="3291840"/>
            <a:ext cx="1664208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Signed evidence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489204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A6B8C"/>
                </a:solidFill>
              </a:rPr>
              <a:t>Each stage is a control point — identity is verified, scoped and logged before the next step runs.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1A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A6E0"/>
                </a:solidFill>
              </a:rPr>
              <a:t>🔨 HANDS-ON LAB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Evidence Pack + AI Summary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486400" cy="502920"/>
          </a:xfrm>
          <a:prstGeom prst="roundRect">
            <a:avLst>
              <a:gd name="adj" fmla="val 18182"/>
            </a:avLst>
          </a:prstGeom>
          <a:solidFill>
            <a:srgbClr val="14264F"/>
          </a:solidFill>
          <a:ln w="12700">
            <a:solidFill>
              <a:srgbClr val="17C3B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463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FA6E0"/>
                </a:solidFill>
              </a:rPr>
              <a:t>PLATFORM  </a:t>
            </a:r>
            <a:pPr indent="0" marL="0">
              <a:buNone/>
            </a:pPr>
            <a:r>
              <a:rPr lang="en-US" sz="1100" dirty="0">
                <a:solidFill>
                  <a:srgbClr val="D6E3F7"/>
                </a:solidFill>
              </a:rPr>
              <a:t>Local Python + Claude API + Microsoft Learn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263640" y="1463040"/>
            <a:ext cx="5486400" cy="502920"/>
          </a:xfrm>
          <a:prstGeom prst="roundRect">
            <a:avLst>
              <a:gd name="adj" fmla="val 18182"/>
            </a:avLst>
          </a:prstGeom>
          <a:solidFill>
            <a:srgbClr val="14264F"/>
          </a:solidFill>
          <a:ln w="12700">
            <a:solidFill>
              <a:srgbClr val="17C3B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46520" y="1463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FA6E0"/>
                </a:solidFill>
              </a:rPr>
              <a:t>EST. TIME  </a:t>
            </a:r>
            <a:pPr indent="0" marL="0">
              <a:buNone/>
            </a:pPr>
            <a:r>
              <a:rPr lang="en-US" sz="1100" dirty="0">
                <a:solidFill>
                  <a:srgbClr val="D6E3F7"/>
                </a:solidFill>
              </a:rPr>
              <a:t>5 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94360" y="2276856"/>
            <a:ext cx="310896" cy="310896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22768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24128" y="224028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Implement scanner checks and output findings.json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583680" y="2258568"/>
            <a:ext cx="5029200" cy="576072"/>
          </a:xfrm>
          <a:prstGeom prst="roundRect">
            <a:avLst>
              <a:gd name="adj" fmla="val 6349"/>
            </a:avLst>
          </a:prstGeom>
          <a:solidFill>
            <a:srgbClr val="061233"/>
          </a:solidFill>
          <a:ln w="12700">
            <a:solidFill>
              <a:srgbClr val="1E356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693408" y="2258568"/>
            <a:ext cx="4846320" cy="5760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FE0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-m hygiene scan --out findings.json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594360" y="2962656"/>
            <a:ext cx="310896" cy="310896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94360" y="29626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024128" y="292608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Render HTML evidence with Jinja2 and hash it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583680" y="2944368"/>
            <a:ext cx="5029200" cy="576072"/>
          </a:xfrm>
          <a:prstGeom prst="roundRect">
            <a:avLst>
              <a:gd name="adj" fmla="val 6349"/>
            </a:avLst>
          </a:prstGeom>
          <a:solidFill>
            <a:srgbClr val="061233"/>
          </a:solidFill>
          <a:ln w="12700">
            <a:solidFill>
              <a:srgbClr val="1E356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693408" y="2944368"/>
            <a:ext cx="4846320" cy="5760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FE0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sha256sum evidence-2027-01-15.html &gt; evidence-2027-01-15.sha256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594360" y="3648456"/>
            <a:ext cx="310896" cy="310896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94360" y="36484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24128" y="361188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Call an LLM to summarise findings for reviewers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583680" y="3630168"/>
            <a:ext cx="5029200" cy="576072"/>
          </a:xfrm>
          <a:prstGeom prst="roundRect">
            <a:avLst>
              <a:gd name="adj" fmla="val 6349"/>
            </a:avLst>
          </a:prstGeom>
          <a:solidFill>
            <a:srgbClr val="061233"/>
          </a:solidFill>
          <a:ln w="12700">
            <a:solidFill>
              <a:srgbClr val="1E356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693408" y="3630168"/>
            <a:ext cx="4846320" cy="5760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FE0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pip install anthropic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94360" y="4334256"/>
            <a:ext cx="310896" cy="310896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94360" y="43342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1024128" y="42976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Require approve/reject CLI step; log reviewer and decision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594360" y="5020056"/>
            <a:ext cx="310896" cy="310896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94360" y="50200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24128" y="49834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Take the SC-300 practice assessment on Microsoft Learn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94360" y="5705856"/>
            <a:ext cx="310896" cy="310896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594360" y="57058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6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1024128" y="56692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Book the SC-300 exam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7C3B2"/>
                </a:solidFill>
              </a:rPr>
              <a:t>PROVE IT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Deliverable &amp; done-checklist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W12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5486400" cy="4206240"/>
          </a:xfrm>
          <a:prstGeom prst="roundRect">
            <a:avLst>
              <a:gd name="adj" fmla="val 1739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77240" y="17830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1A3F"/>
                </a:solidFill>
              </a:rPr>
              <a:t>📦  Deliverable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331720"/>
            <a:ext cx="5029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24324D"/>
                </a:solidFill>
              </a:rPr>
              <a:t>P3 complete with sample evidence pack, architecture diagram and LinkedIn post on audit-ready IAM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77240" y="4937760"/>
            <a:ext cx="5029200" cy="685800"/>
          </a:xfrm>
          <a:prstGeom prst="roundRect">
            <a:avLst>
              <a:gd name="adj" fmla="val 8000"/>
            </a:avLst>
          </a:prstGeom>
          <a:solidFill>
            <a:srgbClr val="0A1A3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60120" y="4937760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A6E0"/>
                </a:solidFill>
              </a:rPr>
              <a:t>Feeds → P3: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iam-governance-engine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6400800" y="178308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1A3F"/>
                </a:solidFill>
              </a:rPr>
              <a:t>✅  Done when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400800" y="2377440"/>
            <a:ext cx="521208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6E0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601968" y="2560320"/>
            <a:ext cx="310896" cy="310896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01968" y="2560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✓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949440" y="2377440"/>
            <a:ext cx="4572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24D"/>
                </a:solidFill>
              </a:rPr>
              <a:t>Evidence pack generated + hashed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0" y="3182112"/>
            <a:ext cx="521208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6E0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601968" y="3364992"/>
            <a:ext cx="310896" cy="310896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601968" y="33649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949440" y="3182112"/>
            <a:ext cx="4572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24D"/>
                </a:solidFill>
              </a:rPr>
              <a:t>AI output never applied without approval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00800" y="3986784"/>
            <a:ext cx="521208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6E0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01968" y="4169664"/>
            <a:ext cx="310896" cy="310896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601968" y="41696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✓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949440" y="3986784"/>
            <a:ext cx="4572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24D"/>
                </a:solidFill>
              </a:rPr>
              <a:t>SC-300 practice ≥ 80%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400800" y="4791456"/>
            <a:ext cx="521208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6E0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601968" y="4974336"/>
            <a:ext cx="310896" cy="310896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601968" y="49743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✓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949440" y="4791456"/>
            <a:ext cx="4572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24D"/>
                </a:solidFill>
              </a:rPr>
              <a:t>SC-300 passed 🎓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26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A6E0"/>
                </a:solidFill>
              </a:rPr>
              <a:t>🎤 INTERVIEW DRILL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04672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Rehearse the answer out loud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11064240" cy="1371600"/>
          </a:xfrm>
          <a:prstGeom prst="roundRect">
            <a:avLst>
              <a:gd name="adj" fmla="val 5333"/>
            </a:avLst>
          </a:prstGeom>
          <a:solidFill>
            <a:srgbClr val="0A1A3F"/>
          </a:solidFill>
          <a:ln w="15875">
            <a:solidFill>
              <a:srgbClr val="17C3B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920240"/>
            <a:ext cx="640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7C3B2"/>
                </a:solidFill>
              </a:rPr>
              <a:t>Q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1554480" y="1920240"/>
            <a:ext cx="9875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How would you safely use an LLM in access reviews?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3337560"/>
            <a:ext cx="11064240" cy="2834640"/>
          </a:xfrm>
          <a:prstGeom prst="roundRect">
            <a:avLst>
              <a:gd name="adj" fmla="val 2581"/>
            </a:avLst>
          </a:prstGeom>
          <a:solidFill>
            <a:srgbClr val="0E2048"/>
          </a:solidFill>
          <a:ln w="15875">
            <a:solidFill>
              <a:srgbClr val="17C3B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35204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7C3B2"/>
                </a:solidFill>
              </a:rPr>
              <a:t>A</a:t>
            </a:r>
            <a:endParaRPr lang="en-US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1554480" y="3566160"/>
            <a:ext cx="9875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DCE7FA"/>
                </a:solidFill>
              </a:rPr>
              <a:t>Minimised input, summarisation only, no autonomous changes, mandatory human decision, prompt and output logged, accuracy spot-checks, and documented in the AI risk register (ISO 42001).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7C3B2"/>
                </a:solidFill>
              </a:rPr>
              <a:t>FLAGSHIP PROJECT · P3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IAM Governance Automation Engine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W12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55448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i="1" dirty="0">
                <a:solidFill>
                  <a:srgbClr val="5A6B8C"/>
                </a:solidFill>
              </a:rPr>
              <a:t>A Python service that reads a fake HRIS feed and drives Joiner-Mover-Leaver across Entra ID and Okta, scans identity hygiene, and produces an auditor-ready evidence pack with an AI-assisted reviewer summary under human approval.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5146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1A3F"/>
                </a:solidFill>
              </a:rPr>
              <a:t>What you build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94360" y="3118104"/>
            <a:ext cx="146304" cy="146304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2926080"/>
            <a:ext cx="5074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HRIS CSV/API simulator (joiners, movers, leavers)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94360" y="3685032"/>
            <a:ext cx="146304" cy="146304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68680" y="3493008"/>
            <a:ext cx="5074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JML engine for Entra ID + Okta (AWS Identity Center added in Month 4)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94360" y="4251960"/>
            <a:ext cx="146304" cy="146304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68680" y="4059936"/>
            <a:ext cx="5074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Hygiene scanner: stale, orphaned, MFA gaps, SoD conflicts, dormant privileged roles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94360" y="4818888"/>
            <a:ext cx="146304" cy="146304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68680" y="4626864"/>
            <a:ext cx="5074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Timestamped HTML/PDF evidence pack mapped to ISO 27001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94360" y="5385816"/>
            <a:ext cx="146304" cy="146304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68680" y="5193792"/>
            <a:ext cx="5074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LLM summary for reviewers with mandatory human approval and full logging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94360" y="5952744"/>
            <a:ext cx="146304" cy="146304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68680" y="5760720"/>
            <a:ext cx="5074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Unit tests + GitHub Actions CI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6400800" y="251460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1A3F"/>
                </a:solidFill>
              </a:rPr>
              <a:t>Compliance mapping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2926080"/>
          <a:ext cx="52120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310896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Control</a:t>
                      </a:r>
                      <a:endParaRPr lang="en-US" sz="105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Requirement</a:t>
                      </a:r>
                      <a:endParaRPr lang="en-US" sz="105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3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ISO 27001:2022 A.5.16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Identity management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ISO 27001:2022 A.5.18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Access rights (provision, review, removal)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ISO 27001:2022 A.5.3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Segregation of duties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DORA Art. 9(4)(c)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Access rights limited to need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</a:tr>
            </a:tbl>
          </a:graphicData>
        </a:graphic>
      </p:graphicFrame>
      <p:sp>
        <p:nvSpPr>
          <p:cNvPr id="21" name="Text 18"/>
          <p:cNvSpPr txBox="1"/>
          <p:nvPr/>
        </p:nvSpPr>
        <p:spPr>
          <a:xfrm>
            <a:off x="548640" y="630936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66C4"/>
                </a:solidFill>
              </a:rPr>
              <a:t>🎓 Certification this month: SC-300 Identity &amp; Access Administrator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1A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4023360"/>
            <a:ext cx="3840480" cy="3840480"/>
          </a:xfrm>
          <a:prstGeom prst="ellipse">
            <a:avLst/>
          </a:prstGeom>
          <a:ln w="12700">
            <a:solidFill>
              <a:srgbClr val="17C3B2">
                <a:alpha val="4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737360" y="4114800"/>
            <a:ext cx="4389120" cy="4389120"/>
          </a:xfrm>
          <a:prstGeom prst="ellipse">
            <a:avLst/>
          </a:prstGeom>
          <a:ln w="12700">
            <a:solidFill>
              <a:srgbClr val="17C3B2">
                <a:alpha val="33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1828800" y="4206240"/>
            <a:ext cx="4937760" cy="4937760"/>
          </a:xfrm>
          <a:prstGeom prst="ellipse">
            <a:avLst/>
          </a:prstGeom>
          <a:ln w="12700">
            <a:solidFill>
              <a:srgbClr val="17C3B2">
                <a:alpha val="2100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20116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A6E0"/>
                </a:solidFill>
              </a:rPr>
              <a:t>KEY TAKEAWAY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468880"/>
            <a:ext cx="10515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Ship the hygiene scanner and evidence pack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420624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C3B2"/>
                </a:solidFill>
              </a:rPr>
              <a:t>Next up → Week 13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60350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C7A9C"/>
                </a:solidFill>
              </a:rPr>
              <a:t>IAM &amp; Cloud Security Engineer — Zero to Hero  ·  Build first, certify second  ·  One identity spine: Wisła Bank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AM Cloud Security">
  <a:themeElements>
    <a:clrScheme name="IAM Cloud Security">
      <a:dk1>
        <a:srgbClr val="0A1A3F"/>
      </a:dk1>
      <a:lt1>
        <a:srgbClr val="FFFFFF"/>
      </a:lt1>
      <a:dk2>
        <a:srgbClr val="14264F"/>
      </a:dk2>
      <a:lt2>
        <a:srgbClr val="EEF3FB"/>
      </a:lt2>
      <a:accent1>
        <a:srgbClr val="2FA6E0"/>
      </a:accent1>
      <a:accent2>
        <a:srgbClr val="1766C4"/>
      </a:accent2>
      <a:accent3>
        <a:srgbClr val="17C3B2"/>
      </a:accent3>
      <a:accent4>
        <a:srgbClr val="F6A31A"/>
      </a:accent4>
      <a:accent5>
        <a:srgbClr val="E0457B"/>
      </a:accent5>
      <a:accent6>
        <a:srgbClr val="6C7A9C"/>
      </a:accent6>
      <a:hlink>
        <a:srgbClr val="2FA6E0"/>
      </a:hlink>
      <a:folHlink>
        <a:srgbClr val="17C3B2"/>
      </a:folHlink>
    </a:clrScheme>
    <a:fontScheme name="IAM Cloud Security">
      <a:majorFont>
        <a:latin typeface="Century Schoolbook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IAM and Cloud Security Engineer Program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12 — Hygiene Scanner, Evidence Packs &amp; AI-Assisted Reviews → SC-300</dc:title>
  <dc:subject>PptxGenJS Presentation</dc:subject>
  <dc:creator>Stephen Omowumi</dc:creator>
  <cp:lastModifiedBy>Stephen Omowumi</cp:lastModifiedBy>
  <cp:revision>1</cp:revision>
  <dcterms:created xsi:type="dcterms:W3CDTF">2026-10-06T20:24:43Z</dcterms:created>
  <dcterms:modified xsi:type="dcterms:W3CDTF">2026-10-06T20:24:43Z</dcterms:modified>
</cp:coreProperties>
</file>