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18: KMS, Secrets Manager, Macie &amp; Data Protection. Part of Month 5 (AWS Security Services &amp; Detection). Flagship project P5 (cloud-auto-remediation).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3F"/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-1463040"/>
            <a:ext cx="4206240" cy="4206240"/>
          </a:xfrm>
          <a:prstGeom prst="ellipse">
            <a:avLst/>
          </a:prstGeom>
          <a:ln w="12700">
            <a:solidFill>
              <a:srgbClr val="E0457B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18320" y="-1554480"/>
            <a:ext cx="4754880" cy="4754880"/>
          </a:xfrm>
          <a:prstGeom prst="ellipse">
            <a:avLst/>
          </a:prstGeom>
          <a:ln w="12700">
            <a:solidFill>
              <a:srgbClr val="E0457B">
                <a:alpha val="3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09760" y="-1645920"/>
            <a:ext cx="5303520" cy="5303520"/>
          </a:xfrm>
          <a:prstGeom prst="ellipse">
            <a:avLst/>
          </a:prstGeom>
          <a:ln w="12700">
            <a:solidFill>
              <a:srgbClr val="E0457B">
                <a:alpha val="2600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3716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000000"/>
                </a:solidFill>
              </a:rPr>
              <a:t>🔐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560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E0457B"/>
                </a:solidFill>
              </a:rPr>
              <a:t>WEEK 18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971800"/>
            <a:ext cx="89611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KMS, Secrets Manager, Macie &amp; Data Protection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4800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A6E0"/>
                </a:solidFill>
              </a:rPr>
              <a:t>MONTH 5 · AWS SECURITY SERVICES &amp; DETECTION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58368" y="5212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C2E6"/>
                </a:solidFill>
              </a:rPr>
              <a:t>IAM &amp; Cloud Security Engineer — Zero to Hero</a:t>
            </a:r>
            <a:pPr indent="0" marL="0">
              <a:buNone/>
            </a:pPr>
            <a:r>
              <a:rPr lang="en-US" sz="1300" dirty="0">
                <a:solidFill>
                  <a:srgbClr val="6C7A9C"/>
                </a:solidFill>
              </a:rPr>
              <a:t>   ·   Feb–Mar 2027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59893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C7A9C"/>
                </a:solidFill>
              </a:rPr>
              <a:t>Continuity case study: Wisła Bank (EU bank · hybrid AD · Entra ID · Okta · AWS + Azure · AI agents)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457B"/>
                </a:solidFill>
              </a:rPr>
              <a:t>SESSION AGENDA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we cover this week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W18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783080"/>
            <a:ext cx="347472" cy="347472"/>
          </a:xfrm>
          <a:prstGeom prst="ellipse">
            <a:avLst/>
          </a:prstGeom>
          <a:solidFill>
            <a:srgbClr val="E0457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13232" y="1783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207008" y="1600200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KMS key policies, grants, envelope encryption and key rotation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441448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13232" y="2624328"/>
            <a:ext cx="347472" cy="347472"/>
          </a:xfrm>
          <a:prstGeom prst="ellipse">
            <a:avLst/>
          </a:prstGeom>
          <a:solidFill>
            <a:srgbClr val="E045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13232" y="2624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207008" y="2441448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Secrets Manager rotation vs long-lived secrets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282696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13232" y="3465576"/>
            <a:ext cx="347472" cy="347472"/>
          </a:xfrm>
          <a:prstGeom prst="ellipse">
            <a:avLst/>
          </a:prstGeom>
          <a:solidFill>
            <a:srgbClr val="E0457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13232" y="34655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207008" y="3282696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Macie for sensitive-data discovery in S3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17920" y="1600200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82512" y="1783080"/>
            <a:ext cx="347472" cy="347472"/>
          </a:xfrm>
          <a:prstGeom prst="ellipse">
            <a:avLst/>
          </a:prstGeom>
          <a:solidFill>
            <a:srgbClr val="E0457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382512" y="1783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876288" y="1600200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VPC endpoints and endpoint policies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217920" y="2441448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82512" y="2624328"/>
            <a:ext cx="347472" cy="347472"/>
          </a:xfrm>
          <a:prstGeom prst="ellipse">
            <a:avLst/>
          </a:prstGeom>
          <a:solidFill>
            <a:srgbClr val="E0457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382512" y="2624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876288" y="2441448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WAF basics for identity-aware protection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457B"/>
                </a:solidFill>
              </a:rPr>
              <a:t>LEARNING OBJECTIVES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By the end of this week you can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W18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459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0457B"/>
                </a:solidFill>
              </a:rPr>
              <a:t>✓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64592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24D"/>
                </a:solidFill>
              </a:rPr>
              <a:t>Design a least-privilege KMS key policy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234440" y="2395728"/>
            <a:ext cx="10149840" cy="0"/>
          </a:xfrm>
          <a:prstGeom prst="line">
            <a:avLst/>
          </a:prstGeom>
          <a:noFill/>
          <a:ln w="12700">
            <a:solidFill>
              <a:srgbClr val="D6E0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5603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0457B"/>
                </a:solidFill>
              </a:rPr>
              <a:t>✓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56032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24D"/>
                </a:solidFill>
              </a:rPr>
              <a:t>Rotate a database secret automatically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234440" y="3310128"/>
            <a:ext cx="10149840" cy="0"/>
          </a:xfrm>
          <a:prstGeom prst="line">
            <a:avLst/>
          </a:prstGeom>
          <a:noFill/>
          <a:ln w="12700">
            <a:solidFill>
              <a:srgbClr val="D6E0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34747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0457B"/>
                </a:solidFill>
              </a:rPr>
              <a:t>✓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47472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24D"/>
                </a:solidFill>
              </a:rPr>
              <a:t>Discover PII in S3 with Macie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234440" y="4224528"/>
            <a:ext cx="10149840" cy="0"/>
          </a:xfrm>
          <a:prstGeom prst="line">
            <a:avLst/>
          </a:prstGeom>
          <a:noFill/>
          <a:ln w="12700">
            <a:solidFill>
              <a:srgbClr val="D6E0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43891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0457B"/>
                </a:solidFill>
              </a:rPr>
              <a:t>✓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38912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24D"/>
                </a:solidFill>
              </a:rPr>
              <a:t>Lock data access to VPC endpoints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457B"/>
                </a:solidFill>
              </a:rPr>
              <a:t>CORE CONCEPTS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ideas that matter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W18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5440680" cy="219456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587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72768"/>
            <a:ext cx="128016" cy="2194560"/>
          </a:xfrm>
          <a:prstGeom prst="roundRect">
            <a:avLst>
              <a:gd name="adj" fmla="val 35714"/>
            </a:avLst>
          </a:prstGeom>
          <a:solidFill>
            <a:srgbClr val="E0457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41248" y="1700784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A3F"/>
                </a:solidFill>
              </a:rPr>
              <a:t>Key policy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2121408"/>
            <a:ext cx="493776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24324D"/>
                </a:solidFill>
              </a:rPr>
              <a:t>The root of KMS authorisation. Grant decrypt narrowly, by role and condition.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572768"/>
            <a:ext cx="5440680" cy="219456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587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09360" y="1572768"/>
            <a:ext cx="128016" cy="2194560"/>
          </a:xfrm>
          <a:prstGeom prst="roundRect">
            <a:avLst>
              <a:gd name="adj" fmla="val 35714"/>
            </a:avLst>
          </a:prstGeom>
          <a:solidFill>
            <a:srgbClr val="E045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601968" y="1700784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A3F"/>
                </a:solidFill>
              </a:rPr>
              <a:t>Envelope encryption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601968" y="2121408"/>
            <a:ext cx="493776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24324D"/>
                </a:solidFill>
              </a:rPr>
              <a:t>Data key encrypts data; KMS encrypts the data key. Scales and audits well.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968496"/>
            <a:ext cx="5440680" cy="219456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587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3968496"/>
            <a:ext cx="128016" cy="2194560"/>
          </a:xfrm>
          <a:prstGeom prst="roundRect">
            <a:avLst>
              <a:gd name="adj" fmla="val 35714"/>
            </a:avLst>
          </a:prstGeom>
          <a:solidFill>
            <a:srgbClr val="E0457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41248" y="4096512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A3F"/>
                </a:solidFill>
              </a:rPr>
              <a:t>Rotation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41248" y="4517136"/>
            <a:ext cx="493776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24324D"/>
                </a:solidFill>
              </a:rPr>
              <a:t>Secrets Manager rotates credentials on a schedule via a Lambda.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09360" y="3968496"/>
            <a:ext cx="5440680" cy="219456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587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09360" y="3968496"/>
            <a:ext cx="128016" cy="2194560"/>
          </a:xfrm>
          <a:prstGeom prst="roundRect">
            <a:avLst>
              <a:gd name="adj" fmla="val 35714"/>
            </a:avLst>
          </a:prstGeom>
          <a:solidFill>
            <a:srgbClr val="E0457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601968" y="4096512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A3F"/>
                </a:solidFill>
              </a:rPr>
              <a:t>Endpoint policy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601968" y="4517136"/>
            <a:ext cx="493776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24324D"/>
                </a:solidFill>
              </a:rPr>
              <a:t>Restrict which principals/resources a VPC endpoint will serve.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457B"/>
                </a:solidFill>
              </a:rPr>
              <a:t>HOW IT FITS TOGETHER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Data Protection — the flow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W18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0A1A3F"/>
          </a:solidFill>
          <a:ln w="19050">
            <a:solidFill>
              <a:srgbClr val="0A1A3F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0080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A6E0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Create CMK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414016" y="3538728"/>
            <a:ext cx="384048" cy="329184"/>
          </a:xfrm>
          <a:prstGeom prst="chevron">
            <a:avLst/>
          </a:prstGeom>
          <a:solidFill>
            <a:srgbClr val="E0457B"/>
          </a:solidFill>
          <a:ln/>
        </p:spPr>
      </p:sp>
      <p:sp>
        <p:nvSpPr>
          <p:cNvPr id="9" name="Shape 7"/>
          <p:cNvSpPr/>
          <p:nvPr/>
        </p:nvSpPr>
        <p:spPr>
          <a:xfrm>
            <a:off x="2862072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EEF3FB"/>
          </a:solidFill>
          <a:ln w="19050">
            <a:solidFill>
              <a:srgbClr val="E0457B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2953512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457B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935224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1A3F"/>
                </a:solidFill>
              </a:rPr>
              <a:t>Scoped key policy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727448" y="3538728"/>
            <a:ext cx="384048" cy="329184"/>
          </a:xfrm>
          <a:prstGeom prst="chevron">
            <a:avLst/>
          </a:prstGeom>
          <a:solidFill>
            <a:srgbClr val="E0457B"/>
          </a:solidFill>
          <a:ln/>
        </p:spPr>
      </p:sp>
      <p:sp>
        <p:nvSpPr>
          <p:cNvPr id="13" name="Shape 11"/>
          <p:cNvSpPr/>
          <p:nvPr/>
        </p:nvSpPr>
        <p:spPr>
          <a:xfrm>
            <a:off x="5175504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EEF3FB"/>
          </a:solidFill>
          <a:ln w="19050">
            <a:solidFill>
              <a:srgbClr val="E0457B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5266944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457B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248656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1A3F"/>
                </a:solidFill>
              </a:rPr>
              <a:t>Encrypt data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040880" y="3538728"/>
            <a:ext cx="384048" cy="329184"/>
          </a:xfrm>
          <a:prstGeom prst="chevron">
            <a:avLst/>
          </a:prstGeom>
          <a:solidFill>
            <a:srgbClr val="E0457B"/>
          </a:solidFill>
          <a:ln/>
        </p:spPr>
      </p:sp>
      <p:sp>
        <p:nvSpPr>
          <p:cNvPr id="17" name="Shape 15"/>
          <p:cNvSpPr/>
          <p:nvPr/>
        </p:nvSpPr>
        <p:spPr>
          <a:xfrm>
            <a:off x="7488936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EEF3FB"/>
          </a:solidFill>
          <a:ln w="19050">
            <a:solidFill>
              <a:srgbClr val="E0457B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7580376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457B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562088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1A3F"/>
                </a:solidFill>
              </a:rPr>
              <a:t>Rotate secrets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354312" y="3538728"/>
            <a:ext cx="384048" cy="329184"/>
          </a:xfrm>
          <a:prstGeom prst="chevron">
            <a:avLst/>
          </a:prstGeom>
          <a:solidFill>
            <a:srgbClr val="E0457B"/>
          </a:solidFill>
          <a:ln/>
        </p:spPr>
      </p:sp>
      <p:sp>
        <p:nvSpPr>
          <p:cNvPr id="21" name="Shape 19"/>
          <p:cNvSpPr/>
          <p:nvPr/>
        </p:nvSpPr>
        <p:spPr>
          <a:xfrm>
            <a:off x="9802368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0A1A3F"/>
          </a:solidFill>
          <a:ln w="19050">
            <a:solidFill>
              <a:srgbClr val="0A1A3F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9893808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A6E0"/>
                </a:solidFill>
              </a:rPr>
              <a:t>5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875520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Audit via CloudTrail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48920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B8C"/>
                </a:solidFill>
              </a:rPr>
              <a:t>Each stage is a control point — identity is verified, scoped and logged before the next step runs.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A6E0"/>
                </a:solidFill>
              </a:rPr>
              <a:t>🔨 HANDS-ON LAB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Encryption &amp; Secret Rotation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86400" cy="502920"/>
          </a:xfrm>
          <a:prstGeom prst="roundRect">
            <a:avLst>
              <a:gd name="adj" fmla="val 18182"/>
            </a:avLst>
          </a:prstGeom>
          <a:solidFill>
            <a:srgbClr val="14264F"/>
          </a:solidFill>
          <a:ln w="12700">
            <a:solidFill>
              <a:srgbClr val="E0457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63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A6E0"/>
                </a:solidFill>
              </a:rPr>
              <a:t>PLATFORM  </a:t>
            </a:r>
            <a:pPr indent="0" marL="0">
              <a:buNone/>
            </a:pPr>
            <a:r>
              <a:rPr lang="en-US" sz="1100" dirty="0">
                <a:solidFill>
                  <a:srgbClr val="D6E3F7"/>
                </a:solidFill>
              </a:rPr>
              <a:t>AWS sandbox + Tutorials Dojo PlayCloud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263640" y="1463040"/>
            <a:ext cx="5486400" cy="502920"/>
          </a:xfrm>
          <a:prstGeom prst="roundRect">
            <a:avLst>
              <a:gd name="adj" fmla="val 18182"/>
            </a:avLst>
          </a:prstGeom>
          <a:solidFill>
            <a:srgbClr val="14264F"/>
          </a:solidFill>
          <a:ln w="12700">
            <a:solidFill>
              <a:srgbClr val="E0457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46520" y="1463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A6E0"/>
                </a:solidFill>
              </a:rPr>
              <a:t>EST. TIME  </a:t>
            </a:r>
            <a:pPr indent="0" marL="0">
              <a:buNone/>
            </a:pPr>
            <a:r>
              <a:rPr lang="en-US" sz="1100" dirty="0">
                <a:solidFill>
                  <a:srgbClr val="D6E3F7"/>
                </a:solidFill>
              </a:rPr>
              <a:t>4 h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2276856"/>
            <a:ext cx="310896" cy="310896"/>
          </a:xfrm>
          <a:prstGeom prst="ellipse">
            <a:avLst/>
          </a:prstGeom>
          <a:solidFill>
            <a:srgbClr val="E0457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4360" y="22768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24128" y="22402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Create a CMK with a least-privilege key policy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583680" y="2258568"/>
            <a:ext cx="5029200" cy="576072"/>
          </a:xfrm>
          <a:prstGeom prst="roundRect">
            <a:avLst>
              <a:gd name="adj" fmla="val 6349"/>
            </a:avLst>
          </a:prstGeom>
          <a:solidFill>
            <a:srgbClr val="061233"/>
          </a:solidFill>
          <a:ln w="12700">
            <a:solidFill>
              <a:srgbClr val="1E356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93408" y="2258568"/>
            <a:ext cx="4846320" cy="576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E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 kms create-key --description wisla-data --policy file://key-policy.json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94360" y="2962656"/>
            <a:ext cx="310896" cy="310896"/>
          </a:xfrm>
          <a:prstGeom prst="ellipse">
            <a:avLst/>
          </a:prstGeom>
          <a:solidFill>
            <a:srgbClr val="E045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94360" y="2962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24128" y="29260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Enable automatic annual rotation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583680" y="2944368"/>
            <a:ext cx="5029200" cy="576072"/>
          </a:xfrm>
          <a:prstGeom prst="roundRect">
            <a:avLst>
              <a:gd name="adj" fmla="val 6349"/>
            </a:avLst>
          </a:prstGeom>
          <a:solidFill>
            <a:srgbClr val="061233"/>
          </a:solidFill>
          <a:ln w="12700">
            <a:solidFill>
              <a:srgbClr val="1E356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93408" y="2944368"/>
            <a:ext cx="4846320" cy="576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E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 kms enable-key-rotation --key-id $KEY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3648456"/>
            <a:ext cx="310896" cy="310896"/>
          </a:xfrm>
          <a:prstGeom prst="ellipse">
            <a:avLst/>
          </a:prstGeom>
          <a:solidFill>
            <a:srgbClr val="E0457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94360" y="36484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024128" y="36118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Store and auto-rotate an RDS secret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94360" y="4334256"/>
            <a:ext cx="310896" cy="310896"/>
          </a:xfrm>
          <a:prstGeom prst="ellipse">
            <a:avLst/>
          </a:prstGeom>
          <a:solidFill>
            <a:srgbClr val="E0457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94360" y="43342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024128" y="42976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Run a Macie job over a test S3 bucket with synthetic PII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94360" y="5020056"/>
            <a:ext cx="310896" cy="310896"/>
          </a:xfrm>
          <a:prstGeom prst="ellipse">
            <a:avLst/>
          </a:prstGeom>
          <a:solidFill>
            <a:srgbClr val="E0457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94360" y="50200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024128" y="49834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Add an S3 VPC endpoint with a restrictive endpoint policy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94360" y="5705856"/>
            <a:ext cx="310896" cy="310896"/>
          </a:xfrm>
          <a:prstGeom prst="ellipse">
            <a:avLst/>
          </a:prstGeom>
          <a:solidFill>
            <a:srgbClr val="E0457B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94360" y="57058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1024128" y="56692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Take a Tutorials Dojo SCS-C03 practice set on data protection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457B"/>
                </a:solidFill>
              </a:rPr>
              <a:t>PROVE IT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Deliverable &amp; done-checklist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W18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17830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A3F"/>
                </a:solidFill>
              </a:rPr>
              <a:t>📦  Deliverable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33172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4324D"/>
                </a:solidFill>
              </a:rPr>
              <a:t>P5: data-protection/ Terraform, key-policy rationale and a Macie findings summary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4937760"/>
            <a:ext cx="5029200" cy="685800"/>
          </a:xfrm>
          <a:prstGeom prst="roundRect">
            <a:avLst>
              <a:gd name="adj" fmla="val 8000"/>
            </a:avLst>
          </a:prstGeom>
          <a:solidFill>
            <a:srgbClr val="0A1A3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0120" y="493776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A6E0"/>
                </a:solidFill>
              </a:rPr>
              <a:t>Feeds → P5: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cloud-auto-remediation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17830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A3F"/>
                </a:solidFill>
              </a:rPr>
              <a:t>✅  Done when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0" y="2377440"/>
            <a:ext cx="52120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0" y="2377440"/>
            <a:ext cx="91440" cy="676656"/>
          </a:xfrm>
          <a:prstGeom prst="rect">
            <a:avLst/>
          </a:prstGeom>
          <a:solidFill>
            <a:srgbClr val="17C3B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10528" y="2377440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7C3B2"/>
                </a:solidFill>
              </a:rPr>
              <a:t>☑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949440" y="2377440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24D"/>
                </a:solidFill>
              </a:rPr>
              <a:t>CMK rotation 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0" y="3182112"/>
            <a:ext cx="52120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3182112"/>
            <a:ext cx="91440" cy="676656"/>
          </a:xfrm>
          <a:prstGeom prst="rect">
            <a:avLst/>
          </a:prstGeom>
          <a:solidFill>
            <a:srgbClr val="17C3B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10528" y="3182112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7C3B2"/>
                </a:solidFill>
              </a:rPr>
              <a:t>☑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949440" y="3182112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24D"/>
                </a:solidFill>
              </a:rPr>
              <a:t>Secret rotates on schedule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0" y="3986784"/>
            <a:ext cx="52120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0" y="3986784"/>
            <a:ext cx="91440" cy="676656"/>
          </a:xfrm>
          <a:prstGeom prst="rect">
            <a:avLst/>
          </a:prstGeom>
          <a:solidFill>
            <a:srgbClr val="17C3B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10528" y="3986784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7C3B2"/>
                </a:solidFill>
              </a:rPr>
              <a:t>☑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949440" y="3986784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24D"/>
                </a:solidFill>
              </a:rPr>
              <a:t>Macie finds synthetic PII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0" y="4791456"/>
            <a:ext cx="52120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0" y="4791456"/>
            <a:ext cx="91440" cy="676656"/>
          </a:xfrm>
          <a:prstGeom prst="rect">
            <a:avLst/>
          </a:prstGeom>
          <a:solidFill>
            <a:srgbClr val="17C3B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510528" y="4791456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7C3B2"/>
                </a:solidFill>
              </a:rPr>
              <a:t>☑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949440" y="4791456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24D"/>
                </a:solidFill>
              </a:rPr>
              <a:t>S3 reachable only via endpoint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26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A6E0"/>
                </a:solidFill>
              </a:rPr>
              <a:t>🎤 INTERVIEW DRILL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0467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Rehearse the answer out loud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0A1A3F"/>
          </a:solidFill>
          <a:ln w="15875">
            <a:solidFill>
              <a:srgbClr val="E0457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920240"/>
            <a:ext cx="640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0457B"/>
                </a:solidFill>
              </a:rPr>
              <a:t>Q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920240"/>
            <a:ext cx="9875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How does envelope encryption work and why use it?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3337560"/>
            <a:ext cx="11064240" cy="2834640"/>
          </a:xfrm>
          <a:prstGeom prst="roundRect">
            <a:avLst>
              <a:gd name="adj" fmla="val 2581"/>
            </a:avLst>
          </a:prstGeom>
          <a:solidFill>
            <a:srgbClr val="0E2048"/>
          </a:solidFill>
          <a:ln w="15875">
            <a:solidFill>
              <a:srgbClr val="17C3B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3520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7C3B2"/>
                </a:solidFill>
              </a:rPr>
              <a:t>A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3566160"/>
            <a:ext cx="9875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CE7FA"/>
                </a:solidFill>
              </a:rPr>
              <a:t>A data key encrypts the data locally; KMS encrypts that data key with a CMK. Only the small data key touches KMS, so it scales, every use is audited in CloudTrail, and rotating the CMK does not require re-encrypting all data.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457B"/>
                </a:solidFill>
              </a:rPr>
              <a:t>FLAGSHIP PROJECT · P5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Cloud Detection &amp; Auto-Remediation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W18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5448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5A6B8C"/>
                </a:solidFill>
              </a:rPr>
              <a:t>Org-wide GuardDuty, Security Hub and Config with eight auto-remediation playbooks, immutable audit logging and a controlled attack-simulation demo showing detect → respond → evidence.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514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A3F"/>
                </a:solidFill>
              </a:rPr>
              <a:t>What you build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2980944"/>
            <a:ext cx="146304" cy="146304"/>
          </a:xfrm>
          <a:prstGeom prst="ellipse">
            <a:avLst/>
          </a:prstGeom>
          <a:solidFill>
            <a:srgbClr val="E045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92608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Org-wide GuardDuty, Security Hub (CIS + AWS FSBP), Config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94360" y="3547872"/>
            <a:ext cx="146304" cy="146304"/>
          </a:xfrm>
          <a:prstGeom prst="ellipse">
            <a:avLst/>
          </a:prstGeom>
          <a:solidFill>
            <a:srgbClr val="E0457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3493008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8 EventBridge → Lambda/Step Functions remediation playbooks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94360" y="4114800"/>
            <a:ext cx="146304" cy="146304"/>
          </a:xfrm>
          <a:prstGeom prst="ellipse">
            <a:avLst/>
          </a:prstGeom>
          <a:solidFill>
            <a:srgbClr val="E0457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4059936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Slack/Teams notifications on every action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94360" y="4681728"/>
            <a:ext cx="146304" cy="146304"/>
          </a:xfrm>
          <a:prstGeom prst="ellipse">
            <a:avLst/>
          </a:prstGeom>
          <a:solidFill>
            <a:srgbClr val="E045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4626864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Immutable audit bucket for all remediation events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94360" y="5248656"/>
            <a:ext cx="146304" cy="146304"/>
          </a:xfrm>
          <a:prstGeom prst="ellipse">
            <a:avLst/>
          </a:prstGeom>
          <a:solidFill>
            <a:srgbClr val="E0457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5193792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Attack-simulation demo (controlled sandbox) with a 3-minute video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94360" y="5815584"/>
            <a:ext cx="146304" cy="146304"/>
          </a:xfrm>
          <a:prstGeom prst="ellipse">
            <a:avLst/>
          </a:prstGeom>
          <a:solidFill>
            <a:srgbClr val="E0457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68680" y="576072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KMS, Secrets Manager and Macie hardening of the data path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25146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A3F"/>
                </a:solidFill>
              </a:rPr>
              <a:t>Compliance mapping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926080"/>
          <a:ext cx="52120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1089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Control</a:t>
                      </a:r>
                      <a:endParaRPr lang="en-US" sz="105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Requirement</a:t>
                      </a:r>
                      <a:endParaRPr lang="en-US" sz="105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ISO 27001:2022 A.8.16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Monitoring activities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ISO 27001:2022 A.5.26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Response to incidents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NIS2 Art. 23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Incident reporting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DORA Art. 17–19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ICT incident management and reporting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</a:tbl>
          </a:graphicData>
        </a:graphic>
      </p:graphicFrame>
      <p:sp>
        <p:nvSpPr>
          <p:cNvPr id="21" name="Text 18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66C4"/>
                </a:solidFill>
              </a:rPr>
              <a:t>🎓 Certification this month: AWS Security – Specialty (SCS-C03)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4023360"/>
            <a:ext cx="3840480" cy="3840480"/>
          </a:xfrm>
          <a:prstGeom prst="ellipse">
            <a:avLst/>
          </a:prstGeom>
          <a:ln w="12700">
            <a:solidFill>
              <a:srgbClr val="E0457B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737360" y="4114800"/>
            <a:ext cx="4389120" cy="4389120"/>
          </a:xfrm>
          <a:prstGeom prst="ellipse">
            <a:avLst/>
          </a:prstGeom>
          <a:ln w="12700">
            <a:solidFill>
              <a:srgbClr val="E0457B">
                <a:alpha val="33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00" y="4206240"/>
            <a:ext cx="4937760" cy="4937760"/>
          </a:xfrm>
          <a:prstGeom prst="ellipse">
            <a:avLst/>
          </a:prstGeom>
          <a:ln w="12700">
            <a:solidFill>
              <a:srgbClr val="E0457B">
                <a:alpha val="2100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0116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A6E0"/>
                </a:solidFill>
              </a:rPr>
              <a:t>KEY TAKEAWAY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4688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Design a least-privilege KMS key policy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2062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C3B2"/>
                </a:solidFill>
              </a:rPr>
              <a:t>Next up → Week 19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C7A9C"/>
                </a:solidFill>
              </a:rPr>
              <a:t>IAM &amp; Cloud Security Engineer — Zero to Hero  ·  Build first, certify second  ·  One identity spine: Wisła Bank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AM Cloud Security">
  <a:themeElements>
    <a:clrScheme name="IAM Cloud Security">
      <a:dk1>
        <a:srgbClr val="0A1A3F"/>
      </a:dk1>
      <a:lt1>
        <a:srgbClr val="FFFFFF"/>
      </a:lt1>
      <a:dk2>
        <a:srgbClr val="14264F"/>
      </a:dk2>
      <a:lt2>
        <a:srgbClr val="EEF3FB"/>
      </a:lt2>
      <a:accent1>
        <a:srgbClr val="2FA6E0"/>
      </a:accent1>
      <a:accent2>
        <a:srgbClr val="1766C4"/>
      </a:accent2>
      <a:accent3>
        <a:srgbClr val="17C3B2"/>
      </a:accent3>
      <a:accent4>
        <a:srgbClr val="F6A31A"/>
      </a:accent4>
      <a:accent5>
        <a:srgbClr val="E0457B"/>
      </a:accent5>
      <a:accent6>
        <a:srgbClr val="6C7A9C"/>
      </a:accent6>
      <a:hlink>
        <a:srgbClr val="2FA6E0"/>
      </a:hlink>
      <a:folHlink>
        <a:srgbClr val="17C3B2"/>
      </a:folHlink>
    </a:clrScheme>
    <a:fontScheme name="IAM Cloud Security">
      <a:majorFont>
        <a:latin typeface="Century Schoolboo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IAM and Cloud Security Engineer Program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18 — KMS, Secrets Manager, Macie &amp; Data Protection</dc:title>
  <dc:subject>PptxGenJS Presentation</dc:subject>
  <dc:creator>Stephen Omowumi</dc:creator>
  <cp:lastModifiedBy>Stephen Omowumi</cp:lastModifiedBy>
  <cp:revision>1</cp:revision>
  <dcterms:created xsi:type="dcterms:W3CDTF">2026-10-06T20:15:13Z</dcterms:created>
  <dcterms:modified xsi:type="dcterms:W3CDTF">2026-10-06T20:15:13Z</dcterms:modified>
</cp:coreProperties>
</file>