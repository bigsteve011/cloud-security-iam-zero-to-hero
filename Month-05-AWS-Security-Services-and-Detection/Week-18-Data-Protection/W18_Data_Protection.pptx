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Week 18: KMS, Secrets Manager, Macie &amp; Data Protection. Part of Month 5 (AWS Security Services &amp; Detection). Flagship project P5 (cloud-auto-remediation).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1A3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A3F"/>
          </a:solidFill>
          <a:ln/>
        </p:spPr>
      </p:sp>
      <p:sp>
        <p:nvSpPr>
          <p:cNvPr id="3" name="Shape 1"/>
          <p:cNvSpPr/>
          <p:nvPr/>
        </p:nvSpPr>
        <p:spPr>
          <a:xfrm>
            <a:off x="9326880" y="-1463040"/>
            <a:ext cx="4206240" cy="4206240"/>
          </a:xfrm>
          <a:prstGeom prst="ellipse">
            <a:avLst/>
          </a:prstGeom>
          <a:ln w="12700">
            <a:solidFill>
              <a:srgbClr val="E0457B">
                <a:alpha val="50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418320" y="-1554480"/>
            <a:ext cx="4754880" cy="4754880"/>
          </a:xfrm>
          <a:prstGeom prst="ellipse">
            <a:avLst/>
          </a:prstGeom>
          <a:ln w="12700">
            <a:solidFill>
              <a:srgbClr val="E0457B">
                <a:alpha val="38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509760" y="-1645920"/>
            <a:ext cx="5303520" cy="5303520"/>
          </a:xfrm>
          <a:prstGeom prst="ellipse">
            <a:avLst/>
          </a:prstGeom>
          <a:ln w="12700">
            <a:solidFill>
              <a:srgbClr val="E0457B">
                <a:alpha val="26000"/>
              </a:srgbClr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40080" y="1371600"/>
            <a:ext cx="109728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400" dirty="0">
                <a:solidFill>
                  <a:srgbClr val="000000"/>
                </a:solidFill>
              </a:rPr>
              <a:t>🔐</a:t>
            </a:r>
            <a:endParaRPr lang="en-US" sz="54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2560320"/>
            <a:ext cx="5486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spc="300" kern="0" dirty="0">
                <a:solidFill>
                  <a:srgbClr val="E0457B"/>
                </a:solidFill>
              </a:rPr>
              <a:t>WEEK 18</a:t>
            </a:r>
            <a:endParaRPr lang="en-US" sz="1800" dirty="0"/>
          </a:p>
        </p:txBody>
      </p:sp>
      <p:sp>
        <p:nvSpPr>
          <p:cNvPr id="8" name="Text 6"/>
          <p:cNvSpPr txBox="1"/>
          <p:nvPr/>
        </p:nvSpPr>
        <p:spPr>
          <a:xfrm>
            <a:off x="640080" y="2971800"/>
            <a:ext cx="8961120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KMS, Secrets Manager, Macie &amp; Data Protection</a:t>
            </a:r>
            <a:endParaRPr lang="en-US" sz="4000" dirty="0"/>
          </a:p>
        </p:txBody>
      </p:sp>
      <p:sp>
        <p:nvSpPr>
          <p:cNvPr id="9" name="Text 7"/>
          <p:cNvSpPr txBox="1"/>
          <p:nvPr/>
        </p:nvSpPr>
        <p:spPr>
          <a:xfrm>
            <a:off x="658368" y="480060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2FA6E0"/>
                </a:solidFill>
              </a:rPr>
              <a:t>MONTH 5 · AWS SECURITY SERVICES &amp; DETECTION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658368" y="52120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EC2E6"/>
                </a:solidFill>
              </a:rPr>
              <a:t>IAM &amp; Cloud Security Engineer — Zero to Hero</a:t>
            </a:r>
            <a:pPr indent="0" marL="0">
              <a:buNone/>
            </a:pPr>
            <a:r>
              <a:rPr lang="en-US" sz="1300" dirty="0">
                <a:solidFill>
                  <a:srgbClr val="6C7A9C"/>
                </a:solidFill>
              </a:rPr>
              <a:t>   ·   Feb–Mar 2027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658368" y="5989320"/>
            <a:ext cx="10789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C7A9C"/>
                </a:solidFill>
              </a:rPr>
              <a:t>Continuity case study: Wisła Bank (EU bank · hybrid AD · Entra ID · Okta · AWS + Azure · AI agents)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9144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0457B"/>
                </a:solidFill>
              </a:rPr>
              <a:t>SESSION AGENDA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76656"/>
            <a:ext cx="110642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A1A3F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What we cover this week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11155680" y="384048"/>
            <a:ext cx="548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6C7A9C"/>
                </a:solidFill>
              </a:rPr>
              <a:t>W18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48640" y="1600200"/>
            <a:ext cx="5394960" cy="713232"/>
          </a:xfrm>
          <a:prstGeom prst="roundRect">
            <a:avLst>
              <a:gd name="adj" fmla="val 7692"/>
            </a:avLst>
          </a:prstGeom>
          <a:solidFill>
            <a:srgbClr val="EEF3FB"/>
          </a:solidFill>
          <a:ln w="12700">
            <a:solidFill>
              <a:srgbClr val="D6E0F0"/>
            </a:solidFill>
            <a:prstDash val="solid"/>
          </a:ln>
          <a:effectLst>
            <a:outerShdw sx="100000" sy="100000" kx="0" ky="0" algn="bl" rotWithShape="0" blurRad="101600" dist="38100" dir="5400000">
              <a:srgbClr val="0A1A3F">
                <a:alpha val="18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713232" y="1783080"/>
            <a:ext cx="347472" cy="347472"/>
          </a:xfrm>
          <a:prstGeom prst="ellipse">
            <a:avLst/>
          </a:prstGeom>
          <a:solidFill>
            <a:srgbClr val="E0457B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13232" y="178308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1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1207008" y="1600200"/>
            <a:ext cx="4572000" cy="713232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4324D"/>
                </a:solidFill>
              </a:rPr>
              <a:t>KMS key policies, grants, envelope encryption and key rotation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548640" y="2441448"/>
            <a:ext cx="5394960" cy="713232"/>
          </a:xfrm>
          <a:prstGeom prst="roundRect">
            <a:avLst>
              <a:gd name="adj" fmla="val 7692"/>
            </a:avLst>
          </a:prstGeom>
          <a:solidFill>
            <a:srgbClr val="EEF3FB"/>
          </a:solidFill>
          <a:ln w="12700">
            <a:solidFill>
              <a:srgbClr val="D6E0F0"/>
            </a:solidFill>
            <a:prstDash val="solid"/>
          </a:ln>
          <a:effectLst>
            <a:outerShdw sx="100000" sy="100000" kx="0" ky="0" algn="bl" rotWithShape="0" blurRad="101600" dist="38100" dir="5400000">
              <a:srgbClr val="0A1A3F">
                <a:alpha val="18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713232" y="2624328"/>
            <a:ext cx="347472" cy="347472"/>
          </a:xfrm>
          <a:prstGeom prst="ellipse">
            <a:avLst/>
          </a:prstGeom>
          <a:solidFill>
            <a:srgbClr val="E0457B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713232" y="2624328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2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1207008" y="2441448"/>
            <a:ext cx="4572000" cy="713232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4324D"/>
                </a:solidFill>
              </a:rPr>
              <a:t>Secrets Manager rotation vs long-lived secrets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548640" y="3282696"/>
            <a:ext cx="5394960" cy="713232"/>
          </a:xfrm>
          <a:prstGeom prst="roundRect">
            <a:avLst>
              <a:gd name="adj" fmla="val 7692"/>
            </a:avLst>
          </a:prstGeom>
          <a:solidFill>
            <a:srgbClr val="EEF3FB"/>
          </a:solidFill>
          <a:ln w="12700">
            <a:solidFill>
              <a:srgbClr val="D6E0F0"/>
            </a:solidFill>
            <a:prstDash val="solid"/>
          </a:ln>
          <a:effectLst>
            <a:outerShdw sx="100000" sy="100000" kx="0" ky="0" algn="bl" rotWithShape="0" blurRad="101600" dist="38100" dir="5400000">
              <a:srgbClr val="0A1A3F">
                <a:alpha val="18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713232" y="3465576"/>
            <a:ext cx="347472" cy="347472"/>
          </a:xfrm>
          <a:prstGeom prst="ellipse">
            <a:avLst/>
          </a:prstGeom>
          <a:solidFill>
            <a:srgbClr val="E0457B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713232" y="3465576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3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1207008" y="3282696"/>
            <a:ext cx="4572000" cy="713232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4324D"/>
                </a:solidFill>
              </a:rPr>
              <a:t>Macie for sensitive-data discovery in S3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6217920" y="1600200"/>
            <a:ext cx="5394960" cy="713232"/>
          </a:xfrm>
          <a:prstGeom prst="roundRect">
            <a:avLst>
              <a:gd name="adj" fmla="val 7692"/>
            </a:avLst>
          </a:prstGeom>
          <a:solidFill>
            <a:srgbClr val="EEF3FB"/>
          </a:solidFill>
          <a:ln w="12700">
            <a:solidFill>
              <a:srgbClr val="D6E0F0"/>
            </a:solidFill>
            <a:prstDash val="solid"/>
          </a:ln>
          <a:effectLst>
            <a:outerShdw sx="100000" sy="100000" kx="0" ky="0" algn="bl" rotWithShape="0" blurRad="101600" dist="38100" dir="5400000">
              <a:srgbClr val="0A1A3F">
                <a:alpha val="18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6382512" y="1783080"/>
            <a:ext cx="347472" cy="347472"/>
          </a:xfrm>
          <a:prstGeom prst="ellipse">
            <a:avLst/>
          </a:prstGeom>
          <a:solidFill>
            <a:srgbClr val="E0457B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6382512" y="178308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4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6876288" y="1600200"/>
            <a:ext cx="4572000" cy="713232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4324D"/>
                </a:solidFill>
              </a:rPr>
              <a:t>VPC endpoints and endpoint policies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6217920" y="2441448"/>
            <a:ext cx="5394960" cy="713232"/>
          </a:xfrm>
          <a:prstGeom prst="roundRect">
            <a:avLst>
              <a:gd name="adj" fmla="val 7692"/>
            </a:avLst>
          </a:prstGeom>
          <a:solidFill>
            <a:srgbClr val="EEF3FB"/>
          </a:solidFill>
          <a:ln w="12700">
            <a:solidFill>
              <a:srgbClr val="D6E0F0"/>
            </a:solidFill>
            <a:prstDash val="solid"/>
          </a:ln>
          <a:effectLst>
            <a:outerShdw sx="100000" sy="100000" kx="0" ky="0" algn="bl" rotWithShape="0" blurRad="101600" dist="38100" dir="5400000">
              <a:srgbClr val="0A1A3F">
                <a:alpha val="18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6382512" y="2624328"/>
            <a:ext cx="347472" cy="347472"/>
          </a:xfrm>
          <a:prstGeom prst="ellipse">
            <a:avLst/>
          </a:prstGeom>
          <a:solidFill>
            <a:srgbClr val="E0457B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6382512" y="2624328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5</a:t>
            </a:r>
            <a:endParaRPr lang="en-US" sz="1400" dirty="0"/>
          </a:p>
        </p:txBody>
      </p:sp>
      <p:sp>
        <p:nvSpPr>
          <p:cNvPr id="24" name="Text 22"/>
          <p:cNvSpPr txBox="1"/>
          <p:nvPr/>
        </p:nvSpPr>
        <p:spPr>
          <a:xfrm>
            <a:off x="6876288" y="2441448"/>
            <a:ext cx="4572000" cy="713232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4324D"/>
                </a:solidFill>
              </a:rPr>
              <a:t>WAF basics for identity-aware protection</a:t>
            </a:r>
            <a:endParaRPr lang="en-US" sz="12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9144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0457B"/>
                </a:solidFill>
              </a:rPr>
              <a:t>LEARNING OBJECTIVES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76656"/>
            <a:ext cx="110642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A1A3F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By the end of this week you can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11155680" y="384048"/>
            <a:ext cx="548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6C7A9C"/>
                </a:solidFill>
              </a:rPr>
              <a:t>W18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645920"/>
            <a:ext cx="502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E0457B"/>
                </a:solidFill>
              </a:rPr>
              <a:t>✓</a:t>
            </a:r>
            <a:endParaRPr lang="en-US" sz="2400" dirty="0"/>
          </a:p>
        </p:txBody>
      </p:sp>
      <p:sp>
        <p:nvSpPr>
          <p:cNvPr id="6" name="Text 4"/>
          <p:cNvSpPr txBox="1"/>
          <p:nvPr/>
        </p:nvSpPr>
        <p:spPr>
          <a:xfrm>
            <a:off x="1234440" y="1645920"/>
            <a:ext cx="10149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4324D"/>
                </a:solidFill>
              </a:rPr>
              <a:t>Design a least-privilege KMS key policy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1234440" y="2395728"/>
            <a:ext cx="10149840" cy="0"/>
          </a:xfrm>
          <a:prstGeom prst="line">
            <a:avLst/>
          </a:prstGeom>
          <a:noFill/>
          <a:ln w="12700">
            <a:solidFill>
              <a:srgbClr val="D6E0F0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40080" y="2560320"/>
            <a:ext cx="502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E0457B"/>
                </a:solidFill>
              </a:rPr>
              <a:t>✓</a:t>
            </a:r>
            <a:endParaRPr lang="en-US" sz="2400" dirty="0"/>
          </a:p>
        </p:txBody>
      </p:sp>
      <p:sp>
        <p:nvSpPr>
          <p:cNvPr id="9" name="Text 7"/>
          <p:cNvSpPr txBox="1"/>
          <p:nvPr/>
        </p:nvSpPr>
        <p:spPr>
          <a:xfrm>
            <a:off x="1234440" y="2560320"/>
            <a:ext cx="10149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4324D"/>
                </a:solidFill>
              </a:rPr>
              <a:t>Rotate a database secret automatically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1234440" y="3310128"/>
            <a:ext cx="10149840" cy="0"/>
          </a:xfrm>
          <a:prstGeom prst="line">
            <a:avLst/>
          </a:prstGeom>
          <a:noFill/>
          <a:ln w="12700">
            <a:solidFill>
              <a:srgbClr val="D6E0F0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40080" y="3474720"/>
            <a:ext cx="502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E0457B"/>
                </a:solidFill>
              </a:rPr>
              <a:t>✓</a:t>
            </a:r>
            <a:endParaRPr lang="en-US" sz="2400" dirty="0"/>
          </a:p>
        </p:txBody>
      </p:sp>
      <p:sp>
        <p:nvSpPr>
          <p:cNvPr id="12" name="Text 10"/>
          <p:cNvSpPr txBox="1"/>
          <p:nvPr/>
        </p:nvSpPr>
        <p:spPr>
          <a:xfrm>
            <a:off x="1234440" y="3474720"/>
            <a:ext cx="10149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4324D"/>
                </a:solidFill>
              </a:rPr>
              <a:t>Discover PII in S3 with Macie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1234440" y="4224528"/>
            <a:ext cx="10149840" cy="0"/>
          </a:xfrm>
          <a:prstGeom prst="line">
            <a:avLst/>
          </a:prstGeom>
          <a:noFill/>
          <a:ln w="12700">
            <a:solidFill>
              <a:srgbClr val="D6E0F0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40080" y="4389120"/>
            <a:ext cx="502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E0457B"/>
                </a:solidFill>
              </a:rPr>
              <a:t>✓</a:t>
            </a:r>
            <a:endParaRPr lang="en-US" sz="2400" dirty="0"/>
          </a:p>
        </p:txBody>
      </p:sp>
      <p:sp>
        <p:nvSpPr>
          <p:cNvPr id="15" name="Text 13"/>
          <p:cNvSpPr txBox="1"/>
          <p:nvPr/>
        </p:nvSpPr>
        <p:spPr>
          <a:xfrm>
            <a:off x="1234440" y="4389120"/>
            <a:ext cx="10149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4324D"/>
                </a:solidFill>
              </a:rPr>
              <a:t>Lock data access to VPC endpoints</a:t>
            </a:r>
            <a:endParaRPr lang="en-US" sz="1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9144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0457B"/>
                </a:solidFill>
              </a:rPr>
              <a:t>CORE CONCEPTS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76656"/>
            <a:ext cx="110642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A1A3F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The ideas that matter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11155680" y="384048"/>
            <a:ext cx="548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6C7A9C"/>
                </a:solidFill>
              </a:rPr>
              <a:t>W18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48640" y="1984248"/>
            <a:ext cx="5440680" cy="182880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15875">
            <a:solidFill>
              <a:srgbClr val="D6E0F0"/>
            </a:solidFill>
            <a:prstDash val="solid"/>
          </a:ln>
          <a:effectLst>
            <a:outerShdw sx="100000" sy="100000" kx="0" ky="0" algn="bl" rotWithShape="0" blurRad="101600" dist="38100" dir="5400000">
              <a:srgbClr val="0A1A3F">
                <a:alpha val="18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41248" y="2240280"/>
            <a:ext cx="182880" cy="182880"/>
          </a:xfrm>
          <a:prstGeom prst="ellipse">
            <a:avLst/>
          </a:prstGeom>
          <a:solidFill>
            <a:srgbClr val="E0457B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1152144" y="2130552"/>
            <a:ext cx="4663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A1A3F"/>
                </a:solidFill>
              </a:rPr>
              <a:t>Key policy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859536" y="2642616"/>
            <a:ext cx="4892040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24324D"/>
                </a:solidFill>
              </a:rPr>
              <a:t>The root of KMS authorisation. Grant decrypt narrowly, by role and condition.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6309360" y="1984248"/>
            <a:ext cx="5440680" cy="182880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15875">
            <a:solidFill>
              <a:srgbClr val="D6E0F0"/>
            </a:solidFill>
            <a:prstDash val="solid"/>
          </a:ln>
          <a:effectLst>
            <a:outerShdw sx="100000" sy="100000" kx="0" ky="0" algn="bl" rotWithShape="0" blurRad="101600" dist="38100" dir="5400000">
              <a:srgbClr val="0A1A3F">
                <a:alpha val="18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6601968" y="2240280"/>
            <a:ext cx="182880" cy="182880"/>
          </a:xfrm>
          <a:prstGeom prst="ellipse">
            <a:avLst/>
          </a:prstGeom>
          <a:solidFill>
            <a:srgbClr val="E0457B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6912864" y="2130552"/>
            <a:ext cx="4663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A1A3F"/>
                </a:solidFill>
              </a:rPr>
              <a:t>Envelope encryption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6620256" y="2642616"/>
            <a:ext cx="4892040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24324D"/>
                </a:solidFill>
              </a:rPr>
              <a:t>Data key encrypts data; KMS encrypts the data key. Scales and audits well.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548640" y="4087368"/>
            <a:ext cx="5440680" cy="182880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15875">
            <a:solidFill>
              <a:srgbClr val="D6E0F0"/>
            </a:solidFill>
            <a:prstDash val="solid"/>
          </a:ln>
          <a:effectLst>
            <a:outerShdw sx="100000" sy="100000" kx="0" ky="0" algn="bl" rotWithShape="0" blurRad="101600" dist="38100" dir="5400000">
              <a:srgbClr val="0A1A3F">
                <a:alpha val="18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841248" y="4343400"/>
            <a:ext cx="182880" cy="182880"/>
          </a:xfrm>
          <a:prstGeom prst="ellipse">
            <a:avLst/>
          </a:prstGeom>
          <a:solidFill>
            <a:srgbClr val="E0457B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1152144" y="4233672"/>
            <a:ext cx="4663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A1A3F"/>
                </a:solidFill>
              </a:rPr>
              <a:t>Rotation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859536" y="4745736"/>
            <a:ext cx="4892040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24324D"/>
                </a:solidFill>
              </a:rPr>
              <a:t>Secrets Manager rotates credentials on a schedule via a Lambda.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309360" y="4087368"/>
            <a:ext cx="5440680" cy="182880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15875">
            <a:solidFill>
              <a:srgbClr val="D6E0F0"/>
            </a:solidFill>
            <a:prstDash val="solid"/>
          </a:ln>
          <a:effectLst>
            <a:outerShdw sx="100000" sy="100000" kx="0" ky="0" algn="bl" rotWithShape="0" blurRad="101600" dist="38100" dir="5400000">
              <a:srgbClr val="0A1A3F">
                <a:alpha val="18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6601968" y="4343400"/>
            <a:ext cx="182880" cy="182880"/>
          </a:xfrm>
          <a:prstGeom prst="ellipse">
            <a:avLst/>
          </a:prstGeom>
          <a:solidFill>
            <a:srgbClr val="E0457B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6912864" y="4233672"/>
            <a:ext cx="4663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A1A3F"/>
                </a:solidFill>
              </a:rPr>
              <a:t>Endpoint policy</a:t>
            </a:r>
            <a:endParaRPr lang="en-US" sz="1500" dirty="0"/>
          </a:p>
        </p:txBody>
      </p:sp>
      <p:sp>
        <p:nvSpPr>
          <p:cNvPr id="20" name="Text 18"/>
          <p:cNvSpPr txBox="1"/>
          <p:nvPr/>
        </p:nvSpPr>
        <p:spPr>
          <a:xfrm>
            <a:off x="6620256" y="4745736"/>
            <a:ext cx="4892040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24324D"/>
                </a:solidFill>
              </a:rPr>
              <a:t>Restrict which principals/resources a VPC endpoint will serve.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9144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0457B"/>
                </a:solidFill>
              </a:rPr>
              <a:t>HOW IT FITS TOGETHER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76656"/>
            <a:ext cx="110642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A1A3F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Data Protection — the flow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11155680" y="384048"/>
            <a:ext cx="548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6C7A9C"/>
                </a:solidFill>
              </a:rPr>
              <a:t>W18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48640" y="3017520"/>
            <a:ext cx="1810512" cy="1371600"/>
          </a:xfrm>
          <a:prstGeom prst="roundRect">
            <a:avLst>
              <a:gd name="adj" fmla="val 5333"/>
            </a:avLst>
          </a:prstGeom>
          <a:solidFill>
            <a:srgbClr val="0A1A3F"/>
          </a:solidFill>
          <a:ln w="19050">
            <a:solidFill>
              <a:srgbClr val="0A1A3F"/>
            </a:solidFill>
            <a:prstDash val="solid"/>
          </a:ln>
          <a:effectLst>
            <a:outerShdw sx="100000" sy="100000" kx="0" ky="0" algn="bl" rotWithShape="0" blurRad="101600" dist="38100" dir="5400000">
              <a:srgbClr val="0A1A3F">
                <a:alpha val="18000"/>
              </a:srgbClr>
            </a:outerShdw>
          </a:effectLst>
        </p:spPr>
      </p:sp>
      <p:sp>
        <p:nvSpPr>
          <p:cNvPr id="6" name="Text 4"/>
          <p:cNvSpPr txBox="1"/>
          <p:nvPr/>
        </p:nvSpPr>
        <p:spPr>
          <a:xfrm>
            <a:off x="640080" y="3090672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FA6E0"/>
                </a:solidFill>
              </a:rPr>
              <a:t>1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621792" y="3291840"/>
            <a:ext cx="1664208" cy="10058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</a:rPr>
              <a:t>Create CMK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2414016" y="3538728"/>
            <a:ext cx="384048" cy="329184"/>
          </a:xfrm>
          <a:prstGeom prst="chevron">
            <a:avLst/>
          </a:prstGeom>
          <a:solidFill>
            <a:srgbClr val="E0457B"/>
          </a:solidFill>
          <a:ln/>
        </p:spPr>
      </p:sp>
      <p:sp>
        <p:nvSpPr>
          <p:cNvPr id="9" name="Shape 7"/>
          <p:cNvSpPr/>
          <p:nvPr/>
        </p:nvSpPr>
        <p:spPr>
          <a:xfrm>
            <a:off x="2862072" y="3017520"/>
            <a:ext cx="1810512" cy="1371600"/>
          </a:xfrm>
          <a:prstGeom prst="roundRect">
            <a:avLst>
              <a:gd name="adj" fmla="val 5333"/>
            </a:avLst>
          </a:prstGeom>
          <a:solidFill>
            <a:srgbClr val="EEF3FB"/>
          </a:solidFill>
          <a:ln w="19050">
            <a:solidFill>
              <a:srgbClr val="E0457B"/>
            </a:solidFill>
            <a:prstDash val="solid"/>
          </a:ln>
          <a:effectLst>
            <a:outerShdw sx="100000" sy="100000" kx="0" ky="0" algn="bl" rotWithShape="0" blurRad="101600" dist="38100" dir="5400000">
              <a:srgbClr val="0A1A3F">
                <a:alpha val="18000"/>
              </a:srgbClr>
            </a:outerShdw>
          </a:effectLst>
        </p:spPr>
      </p:sp>
      <p:sp>
        <p:nvSpPr>
          <p:cNvPr id="10" name="Text 8"/>
          <p:cNvSpPr txBox="1"/>
          <p:nvPr/>
        </p:nvSpPr>
        <p:spPr>
          <a:xfrm>
            <a:off x="2953512" y="3090672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0457B"/>
                </a:solidFill>
              </a:rPr>
              <a:t>2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2935224" y="3291840"/>
            <a:ext cx="1664208" cy="10058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0A1A3F"/>
                </a:solidFill>
              </a:rPr>
              <a:t>Scoped key policy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4727448" y="3538728"/>
            <a:ext cx="384048" cy="329184"/>
          </a:xfrm>
          <a:prstGeom prst="chevron">
            <a:avLst/>
          </a:prstGeom>
          <a:solidFill>
            <a:srgbClr val="E0457B"/>
          </a:solidFill>
          <a:ln/>
        </p:spPr>
      </p:sp>
      <p:sp>
        <p:nvSpPr>
          <p:cNvPr id="13" name="Shape 11"/>
          <p:cNvSpPr/>
          <p:nvPr/>
        </p:nvSpPr>
        <p:spPr>
          <a:xfrm>
            <a:off x="5175504" y="3017520"/>
            <a:ext cx="1810512" cy="1371600"/>
          </a:xfrm>
          <a:prstGeom prst="roundRect">
            <a:avLst>
              <a:gd name="adj" fmla="val 5333"/>
            </a:avLst>
          </a:prstGeom>
          <a:solidFill>
            <a:srgbClr val="EEF3FB"/>
          </a:solidFill>
          <a:ln w="19050">
            <a:solidFill>
              <a:srgbClr val="E0457B"/>
            </a:solidFill>
            <a:prstDash val="solid"/>
          </a:ln>
          <a:effectLst>
            <a:outerShdw sx="100000" sy="100000" kx="0" ky="0" algn="bl" rotWithShape="0" blurRad="101600" dist="38100" dir="5400000">
              <a:srgbClr val="0A1A3F">
                <a:alpha val="18000"/>
              </a:srgbClr>
            </a:outerShdw>
          </a:effectLst>
        </p:spPr>
      </p:sp>
      <p:sp>
        <p:nvSpPr>
          <p:cNvPr id="14" name="Text 12"/>
          <p:cNvSpPr txBox="1"/>
          <p:nvPr/>
        </p:nvSpPr>
        <p:spPr>
          <a:xfrm>
            <a:off x="5266944" y="3090672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0457B"/>
                </a:solidFill>
              </a:rPr>
              <a:t>3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5248656" y="3291840"/>
            <a:ext cx="1664208" cy="10058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0A1A3F"/>
                </a:solidFill>
              </a:rPr>
              <a:t>Encrypt data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7040880" y="3538728"/>
            <a:ext cx="384048" cy="329184"/>
          </a:xfrm>
          <a:prstGeom prst="chevron">
            <a:avLst/>
          </a:prstGeom>
          <a:solidFill>
            <a:srgbClr val="E0457B"/>
          </a:solidFill>
          <a:ln/>
        </p:spPr>
      </p:sp>
      <p:sp>
        <p:nvSpPr>
          <p:cNvPr id="17" name="Shape 15"/>
          <p:cNvSpPr/>
          <p:nvPr/>
        </p:nvSpPr>
        <p:spPr>
          <a:xfrm>
            <a:off x="7488936" y="3017520"/>
            <a:ext cx="1810512" cy="1371600"/>
          </a:xfrm>
          <a:prstGeom prst="roundRect">
            <a:avLst>
              <a:gd name="adj" fmla="val 5333"/>
            </a:avLst>
          </a:prstGeom>
          <a:solidFill>
            <a:srgbClr val="EEF3FB"/>
          </a:solidFill>
          <a:ln w="19050">
            <a:solidFill>
              <a:srgbClr val="E0457B"/>
            </a:solidFill>
            <a:prstDash val="solid"/>
          </a:ln>
          <a:effectLst>
            <a:outerShdw sx="100000" sy="100000" kx="0" ky="0" algn="bl" rotWithShape="0" blurRad="101600" dist="38100" dir="5400000">
              <a:srgbClr val="0A1A3F">
                <a:alpha val="18000"/>
              </a:srgbClr>
            </a:outerShdw>
          </a:effectLst>
        </p:spPr>
      </p:sp>
      <p:sp>
        <p:nvSpPr>
          <p:cNvPr id="18" name="Text 16"/>
          <p:cNvSpPr txBox="1"/>
          <p:nvPr/>
        </p:nvSpPr>
        <p:spPr>
          <a:xfrm>
            <a:off x="7580376" y="3090672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0457B"/>
                </a:solidFill>
              </a:rPr>
              <a:t>4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7562088" y="3291840"/>
            <a:ext cx="1664208" cy="10058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0A1A3F"/>
                </a:solidFill>
              </a:rPr>
              <a:t>Rotate secrets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9354312" y="3538728"/>
            <a:ext cx="384048" cy="329184"/>
          </a:xfrm>
          <a:prstGeom prst="chevron">
            <a:avLst/>
          </a:prstGeom>
          <a:solidFill>
            <a:srgbClr val="E0457B"/>
          </a:solidFill>
          <a:ln/>
        </p:spPr>
      </p:sp>
      <p:sp>
        <p:nvSpPr>
          <p:cNvPr id="21" name="Shape 19"/>
          <p:cNvSpPr/>
          <p:nvPr/>
        </p:nvSpPr>
        <p:spPr>
          <a:xfrm>
            <a:off x="9802368" y="3017520"/>
            <a:ext cx="1810512" cy="1371600"/>
          </a:xfrm>
          <a:prstGeom prst="roundRect">
            <a:avLst>
              <a:gd name="adj" fmla="val 5333"/>
            </a:avLst>
          </a:prstGeom>
          <a:solidFill>
            <a:srgbClr val="0A1A3F"/>
          </a:solidFill>
          <a:ln w="19050">
            <a:solidFill>
              <a:srgbClr val="0A1A3F"/>
            </a:solidFill>
            <a:prstDash val="solid"/>
          </a:ln>
          <a:effectLst>
            <a:outerShdw sx="100000" sy="100000" kx="0" ky="0" algn="bl" rotWithShape="0" blurRad="101600" dist="38100" dir="5400000">
              <a:srgbClr val="0A1A3F">
                <a:alpha val="18000"/>
              </a:srgbClr>
            </a:outerShdw>
          </a:effectLst>
        </p:spPr>
      </p:sp>
      <p:sp>
        <p:nvSpPr>
          <p:cNvPr id="22" name="Text 20"/>
          <p:cNvSpPr txBox="1"/>
          <p:nvPr/>
        </p:nvSpPr>
        <p:spPr>
          <a:xfrm>
            <a:off x="9893808" y="3090672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FA6E0"/>
                </a:solidFill>
              </a:rPr>
              <a:t>5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9875520" y="3291840"/>
            <a:ext cx="1664208" cy="10058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</a:rPr>
              <a:t>Audit via CloudTrail</a:t>
            </a:r>
            <a:endParaRPr lang="en-US" sz="1250" dirty="0"/>
          </a:p>
        </p:txBody>
      </p:sp>
      <p:sp>
        <p:nvSpPr>
          <p:cNvPr id="24" name="Text 22"/>
          <p:cNvSpPr txBox="1"/>
          <p:nvPr/>
        </p:nvSpPr>
        <p:spPr>
          <a:xfrm>
            <a:off x="548640" y="4892040"/>
            <a:ext cx="11064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5A6B8C"/>
                </a:solidFill>
              </a:rPr>
              <a:t>Each stage is a control point — identity is verified, scoped and logged before the next step runs.</a:t>
            </a:r>
            <a:endParaRPr lang="en-US" sz="13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1A3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2FA6E0"/>
                </a:solidFill>
              </a:rPr>
              <a:t>🔨 HANDS-ON LAB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13232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Encryption &amp; Secret Rotation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48640" y="1463040"/>
            <a:ext cx="5486400" cy="502920"/>
          </a:xfrm>
          <a:prstGeom prst="roundRect">
            <a:avLst>
              <a:gd name="adj" fmla="val 18182"/>
            </a:avLst>
          </a:prstGeom>
          <a:solidFill>
            <a:srgbClr val="14264F"/>
          </a:solidFill>
          <a:ln w="12700">
            <a:solidFill>
              <a:srgbClr val="E0457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31520" y="1463040"/>
            <a:ext cx="5212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FA6E0"/>
                </a:solidFill>
              </a:rPr>
              <a:t>PLATFORM  </a:t>
            </a:r>
            <a:pPr indent="0" marL="0">
              <a:buNone/>
            </a:pPr>
            <a:r>
              <a:rPr lang="en-US" sz="1100" dirty="0">
                <a:solidFill>
                  <a:srgbClr val="D6E3F7"/>
                </a:solidFill>
              </a:rPr>
              <a:t>AWS sandbox + Tutorials Dojo PlayCloud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6263640" y="1463040"/>
            <a:ext cx="5486400" cy="502920"/>
          </a:xfrm>
          <a:prstGeom prst="roundRect">
            <a:avLst>
              <a:gd name="adj" fmla="val 18182"/>
            </a:avLst>
          </a:prstGeom>
          <a:solidFill>
            <a:srgbClr val="14264F"/>
          </a:solidFill>
          <a:ln w="12700">
            <a:solidFill>
              <a:srgbClr val="E0457B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446520" y="1463040"/>
            <a:ext cx="5212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FA6E0"/>
                </a:solidFill>
              </a:rPr>
              <a:t>EST. TIME  </a:t>
            </a:r>
            <a:pPr indent="0" marL="0">
              <a:buNone/>
            </a:pPr>
            <a:r>
              <a:rPr lang="en-US" sz="1100" dirty="0">
                <a:solidFill>
                  <a:srgbClr val="D6E3F7"/>
                </a:solidFill>
              </a:rPr>
              <a:t>4 h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594360" y="2276856"/>
            <a:ext cx="310896" cy="310896"/>
          </a:xfrm>
          <a:prstGeom prst="ellipse">
            <a:avLst/>
          </a:prstGeom>
          <a:solidFill>
            <a:srgbClr val="E0457B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594360" y="227685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1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1024128" y="2240280"/>
            <a:ext cx="5486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</a:rPr>
              <a:t>Create a CMK with a least-privilege key policy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6583680" y="2258568"/>
            <a:ext cx="5029200" cy="576072"/>
          </a:xfrm>
          <a:prstGeom prst="roundRect">
            <a:avLst>
              <a:gd name="adj" fmla="val 6349"/>
            </a:avLst>
          </a:prstGeom>
          <a:solidFill>
            <a:srgbClr val="061233"/>
          </a:solidFill>
          <a:ln w="12700">
            <a:solidFill>
              <a:srgbClr val="1E3566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693408" y="2258568"/>
            <a:ext cx="4846320" cy="57607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7FE0C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aws kms create-key --description wisla-data --policy file://key-policy.json</a:t>
            </a:r>
            <a:endParaRPr lang="en-US" sz="850" dirty="0"/>
          </a:p>
        </p:txBody>
      </p:sp>
      <p:sp>
        <p:nvSpPr>
          <p:cNvPr id="13" name="Shape 11"/>
          <p:cNvSpPr/>
          <p:nvPr/>
        </p:nvSpPr>
        <p:spPr>
          <a:xfrm>
            <a:off x="594360" y="2962656"/>
            <a:ext cx="310896" cy="310896"/>
          </a:xfrm>
          <a:prstGeom prst="ellipse">
            <a:avLst/>
          </a:prstGeom>
          <a:solidFill>
            <a:srgbClr val="E0457B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594360" y="296265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2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1024128" y="2926080"/>
            <a:ext cx="5486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</a:rPr>
              <a:t>Enable automatic annual rotation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6583680" y="2944368"/>
            <a:ext cx="5029200" cy="576072"/>
          </a:xfrm>
          <a:prstGeom prst="roundRect">
            <a:avLst>
              <a:gd name="adj" fmla="val 6349"/>
            </a:avLst>
          </a:prstGeom>
          <a:solidFill>
            <a:srgbClr val="061233"/>
          </a:solidFill>
          <a:ln w="12700">
            <a:solidFill>
              <a:srgbClr val="1E3566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693408" y="2944368"/>
            <a:ext cx="4846320" cy="57607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7FE0C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aws kms enable-key-rotation --key-id $KEY</a:t>
            </a:r>
            <a:endParaRPr lang="en-US" sz="850" dirty="0"/>
          </a:p>
        </p:txBody>
      </p:sp>
      <p:sp>
        <p:nvSpPr>
          <p:cNvPr id="18" name="Shape 16"/>
          <p:cNvSpPr/>
          <p:nvPr/>
        </p:nvSpPr>
        <p:spPr>
          <a:xfrm>
            <a:off x="594360" y="3648456"/>
            <a:ext cx="310896" cy="310896"/>
          </a:xfrm>
          <a:prstGeom prst="ellipse">
            <a:avLst/>
          </a:prstGeom>
          <a:solidFill>
            <a:srgbClr val="E0457B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594360" y="364845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3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1024128" y="3611880"/>
            <a:ext cx="10424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</a:rPr>
              <a:t>Store and auto-rotate an RDS secret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594360" y="4334256"/>
            <a:ext cx="310896" cy="310896"/>
          </a:xfrm>
          <a:prstGeom prst="ellipse">
            <a:avLst/>
          </a:prstGeom>
          <a:solidFill>
            <a:srgbClr val="E0457B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594360" y="433425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4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1024128" y="4297680"/>
            <a:ext cx="10424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</a:rPr>
              <a:t>Run a Macie job over a test S3 bucket with synthetic PII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594360" y="5020056"/>
            <a:ext cx="310896" cy="310896"/>
          </a:xfrm>
          <a:prstGeom prst="ellipse">
            <a:avLst/>
          </a:prstGeom>
          <a:solidFill>
            <a:srgbClr val="E0457B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594360" y="502005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5</a:t>
            </a:r>
            <a:endParaRPr lang="en-US" sz="1200" dirty="0"/>
          </a:p>
        </p:txBody>
      </p:sp>
      <p:sp>
        <p:nvSpPr>
          <p:cNvPr id="26" name="Text 24"/>
          <p:cNvSpPr txBox="1"/>
          <p:nvPr/>
        </p:nvSpPr>
        <p:spPr>
          <a:xfrm>
            <a:off x="1024128" y="4983480"/>
            <a:ext cx="10424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</a:rPr>
              <a:t>Add an S3 VPC endpoint with a restrictive endpoint policy</a:t>
            </a:r>
            <a:endParaRPr lang="en-US" sz="1150" dirty="0"/>
          </a:p>
        </p:txBody>
      </p:sp>
      <p:sp>
        <p:nvSpPr>
          <p:cNvPr id="27" name="Shape 25"/>
          <p:cNvSpPr/>
          <p:nvPr/>
        </p:nvSpPr>
        <p:spPr>
          <a:xfrm>
            <a:off x="594360" y="5705856"/>
            <a:ext cx="310896" cy="310896"/>
          </a:xfrm>
          <a:prstGeom prst="ellipse">
            <a:avLst/>
          </a:prstGeom>
          <a:solidFill>
            <a:srgbClr val="E0457B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594360" y="570585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6</a:t>
            </a:r>
            <a:endParaRPr lang="en-US" sz="1200" dirty="0"/>
          </a:p>
        </p:txBody>
      </p:sp>
      <p:sp>
        <p:nvSpPr>
          <p:cNvPr id="29" name="Text 27"/>
          <p:cNvSpPr txBox="1"/>
          <p:nvPr/>
        </p:nvSpPr>
        <p:spPr>
          <a:xfrm>
            <a:off x="1024128" y="5669280"/>
            <a:ext cx="10424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</a:rPr>
              <a:t>Take a Tutorials Dojo SCS-C03 practice set on data protection</a:t>
            </a:r>
            <a:endParaRPr lang="en-US" sz="11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9144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0457B"/>
                </a:solidFill>
              </a:rPr>
              <a:t>PROVE IT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76656"/>
            <a:ext cx="110642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A1A3F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Deliverable &amp; done-checklist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11155680" y="384048"/>
            <a:ext cx="548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6C7A9C"/>
                </a:solidFill>
              </a:rPr>
              <a:t>W18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48640" y="1600200"/>
            <a:ext cx="5486400" cy="4206240"/>
          </a:xfrm>
          <a:prstGeom prst="roundRect">
            <a:avLst>
              <a:gd name="adj" fmla="val 1739"/>
            </a:avLst>
          </a:prstGeom>
          <a:solidFill>
            <a:srgbClr val="EEF3FB"/>
          </a:solidFill>
          <a:ln w="12700">
            <a:solidFill>
              <a:srgbClr val="D6E0F0"/>
            </a:solidFill>
            <a:prstDash val="solid"/>
          </a:ln>
          <a:effectLst>
            <a:outerShdw sx="100000" sy="100000" kx="0" ky="0" algn="bl" rotWithShape="0" blurRad="101600" dist="38100" dir="5400000">
              <a:srgbClr val="0A1A3F">
                <a:alpha val="18000"/>
              </a:srgbClr>
            </a:outerShdw>
          </a:effectLst>
        </p:spPr>
      </p:sp>
      <p:sp>
        <p:nvSpPr>
          <p:cNvPr id="6" name="Text 4"/>
          <p:cNvSpPr txBox="1"/>
          <p:nvPr/>
        </p:nvSpPr>
        <p:spPr>
          <a:xfrm>
            <a:off x="777240" y="1783080"/>
            <a:ext cx="5029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A1A3F"/>
                </a:solidFill>
              </a:rPr>
              <a:t>📦  Deliverable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777240" y="2331720"/>
            <a:ext cx="50292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24324D"/>
                </a:solidFill>
              </a:rPr>
              <a:t>P5: data-protection/ Terraform, key-policy rationale and a Macie findings summary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777240" y="4937760"/>
            <a:ext cx="5029200" cy="685800"/>
          </a:xfrm>
          <a:prstGeom prst="roundRect">
            <a:avLst>
              <a:gd name="adj" fmla="val 8000"/>
            </a:avLst>
          </a:prstGeom>
          <a:solidFill>
            <a:srgbClr val="0A1A3F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960120" y="4937760"/>
            <a:ext cx="4663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FA6E0"/>
                </a:solidFill>
              </a:rPr>
              <a:t>Feeds → P5: </a:t>
            </a:r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cloud-auto-remediation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6400800" y="1783080"/>
            <a:ext cx="5120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A1A3F"/>
                </a:solidFill>
              </a:rPr>
              <a:t>✅  Done when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6400800" y="2377440"/>
            <a:ext cx="5212080" cy="676656"/>
          </a:xfrm>
          <a:prstGeom prst="roundRect">
            <a:avLst>
              <a:gd name="adj" fmla="val 8108"/>
            </a:avLst>
          </a:prstGeom>
          <a:solidFill>
            <a:srgbClr val="FFFFFF"/>
          </a:solidFill>
          <a:ln w="12700">
            <a:solidFill>
              <a:srgbClr val="D6E0F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601968" y="2560320"/>
            <a:ext cx="310896" cy="310896"/>
          </a:xfrm>
          <a:prstGeom prst="ellipse">
            <a:avLst/>
          </a:prstGeom>
          <a:solidFill>
            <a:srgbClr val="17C3B2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601968" y="256032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✓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6949440" y="2377440"/>
            <a:ext cx="45720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4324D"/>
                </a:solidFill>
              </a:rPr>
              <a:t>CMK rotation on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6400800" y="3182112"/>
            <a:ext cx="5212080" cy="676656"/>
          </a:xfrm>
          <a:prstGeom prst="roundRect">
            <a:avLst>
              <a:gd name="adj" fmla="val 8108"/>
            </a:avLst>
          </a:prstGeom>
          <a:solidFill>
            <a:srgbClr val="FFFFFF"/>
          </a:solidFill>
          <a:ln w="12700">
            <a:solidFill>
              <a:srgbClr val="D6E0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601968" y="3364992"/>
            <a:ext cx="310896" cy="310896"/>
          </a:xfrm>
          <a:prstGeom prst="ellipse">
            <a:avLst/>
          </a:prstGeom>
          <a:solidFill>
            <a:srgbClr val="17C3B2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6601968" y="336499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✓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6949440" y="3182112"/>
            <a:ext cx="45720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4324D"/>
                </a:solidFill>
              </a:rPr>
              <a:t>Secret rotates on schedule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6400800" y="3986784"/>
            <a:ext cx="5212080" cy="676656"/>
          </a:xfrm>
          <a:prstGeom prst="roundRect">
            <a:avLst>
              <a:gd name="adj" fmla="val 8108"/>
            </a:avLst>
          </a:prstGeom>
          <a:solidFill>
            <a:srgbClr val="FFFFFF"/>
          </a:solidFill>
          <a:ln w="12700">
            <a:solidFill>
              <a:srgbClr val="D6E0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601968" y="4169664"/>
            <a:ext cx="310896" cy="310896"/>
          </a:xfrm>
          <a:prstGeom prst="ellipse">
            <a:avLst/>
          </a:prstGeom>
          <a:solidFill>
            <a:srgbClr val="17C3B2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6601968" y="416966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✓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6949440" y="3986784"/>
            <a:ext cx="45720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4324D"/>
                </a:solidFill>
              </a:rPr>
              <a:t>Macie finds synthetic PII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6400800" y="4791456"/>
            <a:ext cx="5212080" cy="676656"/>
          </a:xfrm>
          <a:prstGeom prst="roundRect">
            <a:avLst>
              <a:gd name="adj" fmla="val 8108"/>
            </a:avLst>
          </a:prstGeom>
          <a:solidFill>
            <a:srgbClr val="FFFFFF"/>
          </a:solidFill>
          <a:ln w="12700">
            <a:solidFill>
              <a:srgbClr val="D6E0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601968" y="4974336"/>
            <a:ext cx="310896" cy="310896"/>
          </a:xfrm>
          <a:prstGeom prst="ellipse">
            <a:avLst/>
          </a:prstGeom>
          <a:solidFill>
            <a:srgbClr val="17C3B2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6601968" y="497433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✓</a:t>
            </a:r>
            <a:endParaRPr lang="en-US" sz="1400" dirty="0"/>
          </a:p>
        </p:txBody>
      </p:sp>
      <p:sp>
        <p:nvSpPr>
          <p:cNvPr id="26" name="Text 24"/>
          <p:cNvSpPr txBox="1"/>
          <p:nvPr/>
        </p:nvSpPr>
        <p:spPr>
          <a:xfrm>
            <a:off x="6949440" y="4791456"/>
            <a:ext cx="45720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4324D"/>
                </a:solidFill>
              </a:rPr>
              <a:t>S3 reachable only via endpoint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4264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2FA6E0"/>
                </a:solidFill>
              </a:rPr>
              <a:t>🎤 INTERVIEW DRILL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804672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Rehearse the answer out loud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48640" y="1783080"/>
            <a:ext cx="11064240" cy="1371600"/>
          </a:xfrm>
          <a:prstGeom prst="roundRect">
            <a:avLst>
              <a:gd name="adj" fmla="val 5333"/>
            </a:avLst>
          </a:prstGeom>
          <a:solidFill>
            <a:srgbClr val="0A1A3F"/>
          </a:solidFill>
          <a:ln w="15875">
            <a:solidFill>
              <a:srgbClr val="E0457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77240" y="1920240"/>
            <a:ext cx="6400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E0457B"/>
                </a:solidFill>
              </a:rPr>
              <a:t>Q</a:t>
            </a:r>
            <a:endParaRPr lang="en-US" sz="4000" dirty="0"/>
          </a:p>
        </p:txBody>
      </p:sp>
      <p:sp>
        <p:nvSpPr>
          <p:cNvPr id="6" name="Text 4"/>
          <p:cNvSpPr txBox="1"/>
          <p:nvPr/>
        </p:nvSpPr>
        <p:spPr>
          <a:xfrm>
            <a:off x="1554480" y="1920240"/>
            <a:ext cx="98755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</a:rPr>
              <a:t>How does envelope encryption work and why use it?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548640" y="3337560"/>
            <a:ext cx="11064240" cy="2834640"/>
          </a:xfrm>
          <a:prstGeom prst="roundRect">
            <a:avLst>
              <a:gd name="adj" fmla="val 2581"/>
            </a:avLst>
          </a:prstGeom>
          <a:solidFill>
            <a:srgbClr val="0E2048"/>
          </a:solidFill>
          <a:ln w="15875">
            <a:solidFill>
              <a:srgbClr val="17C3B2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77240" y="35204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17C3B2"/>
                </a:solidFill>
              </a:rPr>
              <a:t>A</a:t>
            </a:r>
            <a:endParaRPr lang="en-US" sz="3600" dirty="0"/>
          </a:p>
        </p:txBody>
      </p:sp>
      <p:sp>
        <p:nvSpPr>
          <p:cNvPr id="9" name="Text 7"/>
          <p:cNvSpPr txBox="1"/>
          <p:nvPr/>
        </p:nvSpPr>
        <p:spPr>
          <a:xfrm>
            <a:off x="1554480" y="3566160"/>
            <a:ext cx="987552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DCE7FA"/>
                </a:solidFill>
              </a:rPr>
              <a:t>A data key encrypts the data locally; KMS encrypts that data key with a CMK. Only the small data key touches KMS, so it scales, every use is audited in CloudTrail, and rotating the CMK does not require re-encrypting all data.</a:t>
            </a:r>
            <a:endParaRPr lang="en-US" sz="15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9144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0457B"/>
                </a:solidFill>
              </a:rPr>
              <a:t>FLAGSHIP PROJECT · P5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76656"/>
            <a:ext cx="110642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A1A3F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Cloud Detection &amp; Auto-Remediation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11155680" y="384048"/>
            <a:ext cx="548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6C7A9C"/>
                </a:solidFill>
              </a:rPr>
              <a:t>W18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554480"/>
            <a:ext cx="11064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i="1" dirty="0">
                <a:solidFill>
                  <a:srgbClr val="5A6B8C"/>
                </a:solidFill>
              </a:rPr>
              <a:t>Org-wide GuardDuty, Security Hub and Config with eight auto-remediation playbooks, immutable audit logging and a controlled attack-simulation demo showing detect → respond → evidence.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251460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A1A3F"/>
                </a:solidFill>
              </a:rPr>
              <a:t>What you build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594360" y="3118104"/>
            <a:ext cx="146304" cy="146304"/>
          </a:xfrm>
          <a:prstGeom prst="ellipse">
            <a:avLst/>
          </a:prstGeom>
          <a:solidFill>
            <a:srgbClr val="E0457B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868680" y="2926080"/>
            <a:ext cx="50749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4324D"/>
                </a:solidFill>
              </a:rPr>
              <a:t>Org-wide GuardDuty, Security Hub (CIS + AWS FSBP), Config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594360" y="3685032"/>
            <a:ext cx="146304" cy="146304"/>
          </a:xfrm>
          <a:prstGeom prst="ellipse">
            <a:avLst/>
          </a:prstGeom>
          <a:solidFill>
            <a:srgbClr val="E0457B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868680" y="3493008"/>
            <a:ext cx="50749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4324D"/>
                </a:solidFill>
              </a:rPr>
              <a:t>8 EventBridge → Lambda/Step Functions remediation playbooks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594360" y="4251960"/>
            <a:ext cx="146304" cy="146304"/>
          </a:xfrm>
          <a:prstGeom prst="ellipse">
            <a:avLst/>
          </a:prstGeom>
          <a:solidFill>
            <a:srgbClr val="E0457B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868680" y="4059936"/>
            <a:ext cx="50749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4324D"/>
                </a:solidFill>
              </a:rPr>
              <a:t>Slack/Teams notifications on every action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594360" y="4818888"/>
            <a:ext cx="146304" cy="146304"/>
          </a:xfrm>
          <a:prstGeom prst="ellipse">
            <a:avLst/>
          </a:prstGeom>
          <a:solidFill>
            <a:srgbClr val="E0457B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868680" y="4626864"/>
            <a:ext cx="50749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4324D"/>
                </a:solidFill>
              </a:rPr>
              <a:t>Immutable audit bucket for all remediation events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594360" y="5385816"/>
            <a:ext cx="146304" cy="146304"/>
          </a:xfrm>
          <a:prstGeom prst="ellipse">
            <a:avLst/>
          </a:prstGeom>
          <a:solidFill>
            <a:srgbClr val="E0457B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868680" y="5193792"/>
            <a:ext cx="50749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4324D"/>
                </a:solidFill>
              </a:rPr>
              <a:t>Attack-simulation demo (controlled sandbox) with a 3-minute video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594360" y="5952744"/>
            <a:ext cx="146304" cy="146304"/>
          </a:xfrm>
          <a:prstGeom prst="ellipse">
            <a:avLst/>
          </a:prstGeom>
          <a:solidFill>
            <a:srgbClr val="E0457B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868680" y="5760720"/>
            <a:ext cx="50749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4324D"/>
                </a:solidFill>
              </a:rPr>
              <a:t>KMS, Secrets Manager and Macie hardening of the data path</a:t>
            </a:r>
            <a:endParaRPr lang="en-US" sz="1050" dirty="0"/>
          </a:p>
        </p:txBody>
      </p:sp>
      <p:sp>
        <p:nvSpPr>
          <p:cNvPr id="19" name="Text 17"/>
          <p:cNvSpPr txBox="1"/>
          <p:nvPr/>
        </p:nvSpPr>
        <p:spPr>
          <a:xfrm>
            <a:off x="6400800" y="2514600"/>
            <a:ext cx="5212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A1A3F"/>
                </a:solidFill>
              </a:rPr>
              <a:t>Compliance mapping</a:t>
            </a:r>
            <a:endParaRPr lang="en-US" sz="14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0" y="2926080"/>
          <a:ext cx="5212080" cy="914400"/>
        </p:xfrm>
        <a:graphic>
          <a:graphicData uri="http://schemas.openxmlformats.org/drawingml/2006/table">
            <a:tbl>
              <a:tblPr/>
              <a:tblGrid>
                <a:gridCol w="2103120"/>
                <a:gridCol w="3108960"/>
              </a:tblGrid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</a:rPr>
                        <a:t>Control</a:t>
                      </a:r>
                      <a:endParaRPr lang="en-US" sz="1050" dirty="0"/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A3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</a:rPr>
                        <a:t>Requirement</a:t>
                      </a:r>
                      <a:endParaRPr lang="en-US" sz="1050" dirty="0"/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A3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4324D"/>
                          </a:solidFill>
                        </a:rPr>
                        <a:t>ISO 27001:2022 A.8.16</a:t>
                      </a:r>
                      <a:endParaRPr lang="en-US" sz="1000" dirty="0"/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4324D"/>
                          </a:solidFill>
                        </a:rPr>
                        <a:t>Monitoring activities</a:t>
                      </a:r>
                      <a:endParaRPr lang="en-US" sz="1000" dirty="0"/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4324D"/>
                          </a:solidFill>
                        </a:rPr>
                        <a:t>ISO 27001:2022 A.5.26</a:t>
                      </a:r>
                      <a:endParaRPr lang="en-US" sz="1000" dirty="0"/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4324D"/>
                          </a:solidFill>
                        </a:rPr>
                        <a:t>Response to incidents</a:t>
                      </a:r>
                      <a:endParaRPr lang="en-US" sz="1000" dirty="0"/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B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4324D"/>
                          </a:solidFill>
                        </a:rPr>
                        <a:t>NIS2 Art. 23</a:t>
                      </a:r>
                      <a:endParaRPr lang="en-US" sz="1000" dirty="0"/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4324D"/>
                          </a:solidFill>
                        </a:rPr>
                        <a:t>Incident reporting</a:t>
                      </a:r>
                      <a:endParaRPr lang="en-US" sz="1000" dirty="0"/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4324D"/>
                          </a:solidFill>
                        </a:rPr>
                        <a:t>DORA Art. 17–19</a:t>
                      </a:r>
                      <a:endParaRPr lang="en-US" sz="1000" dirty="0"/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4324D"/>
                          </a:solidFill>
                        </a:rPr>
                        <a:t>ICT incident management and reporting</a:t>
                      </a:r>
                      <a:endParaRPr lang="en-US" sz="1000" dirty="0"/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B"/>
                    </a:solidFill>
                  </a:tcPr>
                </a:tc>
              </a:tr>
            </a:tbl>
          </a:graphicData>
        </a:graphic>
      </p:graphicFrame>
      <p:sp>
        <p:nvSpPr>
          <p:cNvPr id="21" name="Text 18"/>
          <p:cNvSpPr txBox="1"/>
          <p:nvPr/>
        </p:nvSpPr>
        <p:spPr>
          <a:xfrm>
            <a:off x="548640" y="6309360"/>
            <a:ext cx="11064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766C4"/>
                </a:solidFill>
              </a:rPr>
              <a:t>🎓 Certification this month: AWS Security – Specialty (SCS-C03)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1A3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645920" y="4023360"/>
            <a:ext cx="3840480" cy="3840480"/>
          </a:xfrm>
          <a:prstGeom prst="ellipse">
            <a:avLst/>
          </a:prstGeom>
          <a:ln w="12700">
            <a:solidFill>
              <a:srgbClr val="E0457B">
                <a:alpha val="45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-1737360" y="4114800"/>
            <a:ext cx="4389120" cy="4389120"/>
          </a:xfrm>
          <a:prstGeom prst="ellipse">
            <a:avLst/>
          </a:prstGeom>
          <a:ln w="12700">
            <a:solidFill>
              <a:srgbClr val="E0457B">
                <a:alpha val="33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-1828800" y="4206240"/>
            <a:ext cx="4937760" cy="4937760"/>
          </a:xfrm>
          <a:prstGeom prst="ellipse">
            <a:avLst/>
          </a:prstGeom>
          <a:ln w="12700">
            <a:solidFill>
              <a:srgbClr val="E0457B">
                <a:alpha val="21000"/>
              </a:srgbClr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40080" y="2011680"/>
            <a:ext cx="9144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2FA6E0"/>
                </a:solidFill>
              </a:rPr>
              <a:t>KEY TAKEAWAY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2468880"/>
            <a:ext cx="1051560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Design a least-privilege KMS key policy</a:t>
            </a:r>
            <a:endParaRPr lang="en-US" sz="30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420624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7C3B2"/>
                </a:solidFill>
              </a:rPr>
              <a:t>Next up → Week 19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640080" y="603504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C7A9C"/>
                </a:solidFill>
              </a:rPr>
              <a:t>IAM &amp; Cloud Security Engineer — Zero to Hero  ·  Build first, certify second  ·  One identity spine: Wisła Bank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IAM Cloud Security">
  <a:themeElements>
    <a:clrScheme name="IAM Cloud Security">
      <a:dk1>
        <a:srgbClr val="0A1A3F"/>
      </a:dk1>
      <a:lt1>
        <a:srgbClr val="FFFFFF"/>
      </a:lt1>
      <a:dk2>
        <a:srgbClr val="14264F"/>
      </a:dk2>
      <a:lt2>
        <a:srgbClr val="EEF3FB"/>
      </a:lt2>
      <a:accent1>
        <a:srgbClr val="2FA6E0"/>
      </a:accent1>
      <a:accent2>
        <a:srgbClr val="1766C4"/>
      </a:accent2>
      <a:accent3>
        <a:srgbClr val="17C3B2"/>
      </a:accent3>
      <a:accent4>
        <a:srgbClr val="F6A31A"/>
      </a:accent4>
      <a:accent5>
        <a:srgbClr val="E0457B"/>
      </a:accent5>
      <a:accent6>
        <a:srgbClr val="6C7A9C"/>
      </a:accent6>
      <a:hlink>
        <a:srgbClr val="2FA6E0"/>
      </a:hlink>
      <a:folHlink>
        <a:srgbClr val="17C3B2"/>
      </a:folHlink>
    </a:clrScheme>
    <a:fontScheme name="IAM Cloud Security">
      <a:majorFont>
        <a:latin typeface="Century Schoolbook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IAM and Cloud Security Engineer Program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Week 18 — KMS, Secrets Manager, Macie &amp; Data Protection</dc:title>
  <dc:subject>PptxGenJS Presentation</dc:subject>
  <dc:creator>Stephen Omowumi</dc:creator>
  <cp:lastModifiedBy>Stephen Omowumi</cp:lastModifiedBy>
  <cp:revision>1</cp:revision>
  <dcterms:created xsi:type="dcterms:W3CDTF">2026-10-06T20:24:43Z</dcterms:created>
  <dcterms:modified xsi:type="dcterms:W3CDTF">2026-10-06T20:24:43Z</dcterms:modified>
</cp:coreProperties>
</file>