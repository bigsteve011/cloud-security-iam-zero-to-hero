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13: AWS IAM Policy Evaluation Logic. Part of Month 4 (AWS IAM, Organizations &amp; Terraform). Flagship project P4 (secure-landing-zone).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3F"/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-1463040"/>
            <a:ext cx="4206240" cy="4206240"/>
          </a:xfrm>
          <a:prstGeom prst="ellipse">
            <a:avLst/>
          </a:prstGeom>
          <a:ln w="12700">
            <a:solidFill>
              <a:srgbClr val="F6A31A">
                <a:alpha val="5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18320" y="-1554480"/>
            <a:ext cx="4754880" cy="4754880"/>
          </a:xfrm>
          <a:prstGeom prst="ellipse">
            <a:avLst/>
          </a:prstGeom>
          <a:ln w="12700">
            <a:solidFill>
              <a:srgbClr val="F6A31A">
                <a:alpha val="3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0" y="-1645920"/>
            <a:ext cx="5303520" cy="5303520"/>
          </a:xfrm>
          <a:prstGeom prst="ellipse">
            <a:avLst/>
          </a:prstGeom>
          <a:ln w="12700">
            <a:solidFill>
              <a:srgbClr val="F6A31A">
                <a:alpha val="26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3716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🔐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603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F6A31A"/>
                </a:solidFill>
              </a:rPr>
              <a:t>WEEK 13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971800"/>
            <a:ext cx="89611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AWS IAM Policy Evaluation Logic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4800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MONTH 4 · AWS IAM, ORGANIZATIONS &amp; TERRAFORM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52120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C2E6"/>
                </a:solidFill>
              </a:rPr>
              <a:t>IAM &amp; Cloud Security Engineer — Zero to Hero</a:t>
            </a:r>
            <a:pPr indent="0" marL="0">
              <a:buNone/>
            </a:pPr>
            <a:r>
              <a:rPr lang="en-US" sz="1300" dirty="0">
                <a:solidFill>
                  <a:srgbClr val="6C7A9C"/>
                </a:solidFill>
              </a:rPr>
              <a:t>   ·   Jan–Feb 2027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598932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Continuity case study: Wisła Bank (EU bank · hybrid AD · Entra ID · Okta · AWS + Azure · AI agents)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6A31A"/>
                </a:solidFill>
              </a:rPr>
              <a:t>SESSION 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we cover this week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W13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783080"/>
            <a:ext cx="347472" cy="347472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Principals, actions, resources, conditions; policy JSON anatomy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232" y="2624328"/>
            <a:ext cx="347472" cy="347472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Identity vs resource policies; explicit deny always wins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282696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13232" y="3465576"/>
            <a:ext cx="347472" cy="347472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3232" y="3465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3282696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Permission boundaries and session policies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1792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82512" y="1783080"/>
            <a:ext cx="347472" cy="347472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8251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87628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SCPs and RCPs as organisation-wide ceilings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1792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82512" y="2624328"/>
            <a:ext cx="347472" cy="347472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8251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87628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Debugging AccessDenied with CloudTrail and the policy simulator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6A31A"/>
                </a:solidFill>
              </a:rPr>
              <a:t>LEARNING OBJECTIVES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By the end of this week you can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6A31A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6459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Predict the outcome of any multi-layer policy evaluation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23957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5603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6A31A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5603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Write least-privilege policies with conditions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234440" y="33101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4747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6A31A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4747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Debug a real AccessDenied in under 10 minutes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234440" y="42245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3891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6A31A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3891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Recognise and remediate common privilege-escalation misconfigurations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6A31A"/>
                </a:solidFill>
              </a:rPr>
              <a:t>CORE CONCEPTS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ideas that matter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W13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572768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F6A31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1700784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Explicit deny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121408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Any matching Deny in any layer ends evaluation. No Allow overrides it.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572768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09360" y="1572768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F6A31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01968" y="1700784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Boundary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601968" y="2121408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A ceiling on what an identity policy can grant. Great for delegated admin.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968496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3968496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F6A31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41248" y="4096512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SCP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" y="4517136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Restricts accounts, never grants. Even root is bound by it.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09360" y="3968496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09360" y="3968496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F6A31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1968" y="4096512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Condition keys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601968" y="4517136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aws:SourceIp, aws:PrincipalOrgID, aws:RequestedRegion — precision tools.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6A31A"/>
                </a:solidFill>
              </a:rPr>
              <a:t>HOW IT FITS TOGETHER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IAM Policy Logic — the flow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W13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0080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Explicit deny?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414016" y="3538728"/>
            <a:ext cx="384048" cy="329184"/>
          </a:xfrm>
          <a:prstGeom prst="chevron">
            <a:avLst/>
          </a:prstGeom>
          <a:solidFill>
            <a:srgbClr val="F6A31A"/>
          </a:solidFill>
          <a:ln/>
        </p:spPr>
      </p:sp>
      <p:sp>
        <p:nvSpPr>
          <p:cNvPr id="9" name="Shape 7"/>
          <p:cNvSpPr/>
          <p:nvPr/>
        </p:nvSpPr>
        <p:spPr>
          <a:xfrm>
            <a:off x="2862072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F6A31A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953512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6A31A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35224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SCP / RCP allow?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727448" y="3538728"/>
            <a:ext cx="384048" cy="329184"/>
          </a:xfrm>
          <a:prstGeom prst="chevron">
            <a:avLst/>
          </a:prstGeom>
          <a:solidFill>
            <a:srgbClr val="F6A31A"/>
          </a:solidFill>
          <a:ln/>
        </p:spPr>
      </p:sp>
      <p:sp>
        <p:nvSpPr>
          <p:cNvPr id="13" name="Shape 11"/>
          <p:cNvSpPr/>
          <p:nvPr/>
        </p:nvSpPr>
        <p:spPr>
          <a:xfrm>
            <a:off x="5175504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F6A31A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266944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6A31A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48656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Resource policy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040880" y="3538728"/>
            <a:ext cx="384048" cy="329184"/>
          </a:xfrm>
          <a:prstGeom prst="chevron">
            <a:avLst/>
          </a:prstGeom>
          <a:solidFill>
            <a:srgbClr val="F6A31A"/>
          </a:solidFill>
          <a:ln/>
        </p:spPr>
      </p:sp>
      <p:sp>
        <p:nvSpPr>
          <p:cNvPr id="17" name="Shape 15"/>
          <p:cNvSpPr/>
          <p:nvPr/>
        </p:nvSpPr>
        <p:spPr>
          <a:xfrm>
            <a:off x="7488936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F6A31A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580376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6A31A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562088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Boundary + session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354312" y="3538728"/>
            <a:ext cx="384048" cy="329184"/>
          </a:xfrm>
          <a:prstGeom prst="chevron">
            <a:avLst/>
          </a:prstGeom>
          <a:solidFill>
            <a:srgbClr val="F6A31A"/>
          </a:solidFill>
          <a:ln/>
        </p:spPr>
      </p:sp>
      <p:sp>
        <p:nvSpPr>
          <p:cNvPr id="21" name="Shape 19"/>
          <p:cNvSpPr/>
          <p:nvPr/>
        </p:nvSpPr>
        <p:spPr>
          <a:xfrm>
            <a:off x="9802368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893808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0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Identity policy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8920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6B8C"/>
                </a:solidFill>
              </a:rPr>
              <a:t>Each stage is a control point — identity is verified, scoped and logged before the next step runs.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🔨 HANDS-ON LAB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Finding &amp; Fixing Risky IAM Permissions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F6A31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PLATFORM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AWS sandbox account + IAM Access Analyzer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63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F6A31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EST. TIME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5 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2276856"/>
            <a:ext cx="310896" cy="310896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2276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22402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Enable IAM Access Analyzer for the account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583680" y="22585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93408" y="22585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 accessanalyzer create-analyzer --analyzer-name wisla-lab --type ACCOUNT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94360" y="2962656"/>
            <a:ext cx="310896" cy="310896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962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24128" y="29260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Generate a credential report and flag unused keys and permissions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583680" y="29443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93408" y="29443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 iam generate-credential-report &amp;&amp; aws iam get-credential-report --query Content --output text | base64 -d &gt; cred.csv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94360" y="3648456"/>
            <a:ext cx="310896" cy="310896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3648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24128" y="36118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Review the escalation patterns documented by IAM Vulnerable (BishopFox) as a defender — understand why iam:CreatePolicyVersion and iam:PassRole are dangerous, then write detections for them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94360" y="4334256"/>
            <a:ext cx="310896" cy="310896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4360" y="43342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42976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Use the policy simulator to confirm a least-privilege policy denies the risky action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583680" y="43159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93408" y="43159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 iam simulate-principal-policy --policy-source-arn $ROLE --action-names iam:CreatePolicyVersion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94360" y="5020056"/>
            <a:ext cx="310896" cy="310896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94360" y="5020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49834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Add a permission boundary that caps what delegated admins can grant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94360" y="5705856"/>
            <a:ext cx="310896" cy="310896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94360" y="5705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24128" y="56692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Write an Access Analyzer finding triage note for each result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6A31A"/>
                </a:solidFill>
              </a:rPr>
              <a:t>PROVE 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Deliverable &amp; done-checklist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W13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📦  Deliverable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3172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4324D"/>
                </a:solidFill>
              </a:rPr>
              <a:t>P4 repo started: iam/ folder with least-privilege policies, a permission boundary and a privilege-escalation detection checklist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" y="4937760"/>
            <a:ext cx="5029200" cy="685800"/>
          </a:xfrm>
          <a:prstGeom prst="roundRect">
            <a:avLst>
              <a:gd name="adj" fmla="val 8000"/>
            </a:avLst>
          </a:prstGeom>
          <a:solidFill>
            <a:srgbClr val="0A1A3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493776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A6E0"/>
                </a:solidFill>
              </a:rPr>
              <a:t>Feeds → P4: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secure-landing-zone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78308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✅  Done when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0" y="2377440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2377440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10528" y="2377440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2377440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Access Analyzer enabled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0" y="3182112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3182112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10528" y="3182112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3182112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Unused credentials identified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0" y="3986784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0" y="3986784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10528" y="3986784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3986784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Boundary caps delegated grants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0" y="4791456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0" y="4791456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10528" y="4791456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4791456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Detection checklist for known escalation paths written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6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🎤 INTERVIEW DRILL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0467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Rehearse the answer out loud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5875">
            <a:solidFill>
              <a:srgbClr val="F6A31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20240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A31A"/>
                </a:solidFill>
              </a:rPr>
              <a:t>Q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920240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A user has AdministratorAccess but gets AccessDenied — debug it.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33756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0E2048"/>
          </a:solidFill>
          <a:ln w="15875">
            <a:solidFill>
              <a:srgbClr val="17C3B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7C3B2"/>
                </a:solidFill>
              </a:rPr>
              <a:t>A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3566160"/>
            <a:ext cx="9875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DCE7FA"/>
                </a:solidFill>
              </a:rPr>
              <a:t>Check for an explicit deny in an SCP or boundary, the requested region against a region-restriction SCP, a resource policy denying the principal, a session policy, and a service-control condition. Explicit deny anywhere wins; trace it with CloudTrail and the policy simulator.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6A31A"/>
                </a:solidFill>
              </a:rPr>
              <a:t>FLAGSHIP PROJECT · P4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Secure Multi-Cloud Landing Zone (Part 1: AWS)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5A6B8C"/>
                </a:solidFill>
              </a:rPr>
              <a:t>Terraform-built AWS Organization with security, log-archive and workload accounts, SCP guardrails, Identity Center federated with Entra ID, and a keyless GitHub Actions pipeline with policy checks.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14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What you build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2980944"/>
            <a:ext cx="146304" cy="146304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92608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AWS Organization: management, security, log-archive, workload OUs/accounts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94360" y="3547872"/>
            <a:ext cx="146304" cy="146304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3493008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SCPs: EU-only regions, deny root, protect CloudTrail/GuardDuty, deny public S3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4360" y="4114800"/>
            <a:ext cx="146304" cy="146304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4059936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Organization CloudTrail to an immutable log-archive bucket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4681728"/>
            <a:ext cx="146304" cy="146304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4626864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IAM Identity Center federated with Entra ID (SAML + SCIM); permission sets per role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94360" y="5248656"/>
            <a:ext cx="146304" cy="146304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5193792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GitHub Actions with OIDC: plan → Checkov/Trivy → OPA → approval → apply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4360" y="5815584"/>
            <a:ext cx="146304" cy="146304"/>
          </a:xfrm>
          <a:prstGeom prst="ellipse">
            <a:avLst/>
          </a:prstGeom>
          <a:solidFill>
            <a:srgbClr val="F6A31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576072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Access Analyzer findings reviewed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25146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Compliance mapping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926080"/>
          <a:ext cx="52120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1089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Control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Requirement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A.8.2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Privileged access rights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A.8.15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Logging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A.8.9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Configuration management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NIS2 Art. 21(2)(d)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Supply chain / secure development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023360"/>
            <a:ext cx="3840480" cy="3840480"/>
          </a:xfrm>
          <a:prstGeom prst="ellipse">
            <a:avLst/>
          </a:prstGeom>
          <a:ln w="12700">
            <a:solidFill>
              <a:srgbClr val="F6A31A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737360" y="4114800"/>
            <a:ext cx="4389120" cy="4389120"/>
          </a:xfrm>
          <a:prstGeom prst="ellipse">
            <a:avLst/>
          </a:prstGeom>
          <a:ln w="12700">
            <a:solidFill>
              <a:srgbClr val="F6A31A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828800" y="4206240"/>
            <a:ext cx="4937760" cy="4937760"/>
          </a:xfrm>
          <a:prstGeom prst="ellipse">
            <a:avLst/>
          </a:prstGeom>
          <a:ln w="12700">
            <a:solidFill>
              <a:srgbClr val="F6A31A">
                <a:alpha val="2100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KEY TAKEAWAY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6888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Predict the outcome of any multi-layer policy evaluation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2062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C3B2"/>
                </a:solidFill>
              </a:rPr>
              <a:t>Next up → Week 14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IAM &amp; Cloud Security Engineer — Zero to Hero  ·  Build first, certify second  ·  One identity spine: Wisła Bank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M Cloud Security">
  <a:themeElements>
    <a:clrScheme name="IAM Cloud Security">
      <a:dk1>
        <a:srgbClr val="0A1A3F"/>
      </a:dk1>
      <a:lt1>
        <a:srgbClr val="FFFFFF"/>
      </a:lt1>
      <a:dk2>
        <a:srgbClr val="14264F"/>
      </a:dk2>
      <a:lt2>
        <a:srgbClr val="EEF3FB"/>
      </a:lt2>
      <a:accent1>
        <a:srgbClr val="2FA6E0"/>
      </a:accent1>
      <a:accent2>
        <a:srgbClr val="1766C4"/>
      </a:accent2>
      <a:accent3>
        <a:srgbClr val="17C3B2"/>
      </a:accent3>
      <a:accent4>
        <a:srgbClr val="F6A31A"/>
      </a:accent4>
      <a:accent5>
        <a:srgbClr val="E0457B"/>
      </a:accent5>
      <a:accent6>
        <a:srgbClr val="6C7A9C"/>
      </a:accent6>
      <a:hlink>
        <a:srgbClr val="2FA6E0"/>
      </a:hlink>
      <a:folHlink>
        <a:srgbClr val="17C3B2"/>
      </a:folHlink>
    </a:clrScheme>
    <a:fontScheme name="IAM Cloud Security">
      <a:majorFont>
        <a:latin typeface="Century Schoolboo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IAM and Cloud Security Engineer Program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13 — AWS IAM Policy Evaluation Logic</dc:title>
  <dc:subject>PptxGenJS Presentation</dc:subject>
  <dc:creator>Stephen Omowumi</dc:creator>
  <cp:lastModifiedBy>Stephen Omowumi</cp:lastModifiedBy>
  <cp:revision>1</cp:revision>
  <dcterms:created xsi:type="dcterms:W3CDTF">2026-10-06T20:15:13Z</dcterms:created>
  <dcterms:modified xsi:type="dcterms:W3CDTF">2026-10-06T20:15:13Z</dcterms:modified>
</cp:coreProperties>
</file>