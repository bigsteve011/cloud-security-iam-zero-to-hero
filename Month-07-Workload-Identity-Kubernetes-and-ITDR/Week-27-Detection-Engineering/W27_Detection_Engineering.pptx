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27: Writing Detections: KQL, Sigma &amp; the Detection Pack. Part of Month 7 (Workload Identity, Kubernetes &amp; Identity Threat Detection). Flagship project P6 (zero-static-secrets + identity-detection-pack).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3F"/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-1463040"/>
            <a:ext cx="4206240" cy="4206240"/>
          </a:xfrm>
          <a:prstGeom prst="ellipse">
            <a:avLst/>
          </a:prstGeom>
          <a:ln w="12700">
            <a:solidFill>
              <a:srgbClr val="1766C4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-1554480"/>
            <a:ext cx="4754880" cy="4754880"/>
          </a:xfrm>
          <a:prstGeom prst="ellipse">
            <a:avLst/>
          </a:prstGeom>
          <a:ln w="12700">
            <a:solidFill>
              <a:srgbClr val="1766C4">
                <a:alpha val="3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09760" y="-1645920"/>
            <a:ext cx="5303520" cy="5303520"/>
          </a:xfrm>
          <a:prstGeom prst="ellipse">
            <a:avLst/>
          </a:prstGeom>
          <a:ln w="12700">
            <a:solidFill>
              <a:srgbClr val="1766C4">
                <a:alpha val="26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3716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</a:rPr>
              <a:t>🔐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560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1766C4"/>
                </a:solidFill>
              </a:rPr>
              <a:t>WEEK 27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971800"/>
            <a:ext cx="89611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Writing Detections: KQL, Sigma &amp; the Detection Pack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4800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6E0"/>
                </a:solidFill>
              </a:rPr>
              <a:t>MONTH 7 · WORKLOAD IDENTITY, KUBERNETES &amp; IDENTITY THREAT DETECTION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5212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C2E6"/>
                </a:solidFill>
              </a:rPr>
              <a:t>IAM &amp; Cloud Security Engineer — Zero to Hero</a:t>
            </a:r>
            <a:pPr indent="0" marL="0">
              <a:buNone/>
            </a:pPr>
            <a:r>
              <a:rPr lang="en-US" sz="1300" dirty="0">
                <a:solidFill>
                  <a:srgbClr val="6C7A9C"/>
                </a:solidFill>
              </a:rPr>
              <a:t>   ·   Apr–May 2027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59893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C7A9C"/>
                </a:solidFill>
              </a:rPr>
              <a:t>Continuity case study: Wisła Bank (EU bank · hybrid AD · Entra ID · Okta · AWS + Azure · AI agents)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66C4"/>
                </a:solidFill>
              </a:rPr>
              <a:t>SESSION AGENDA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we cover this week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W27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783080"/>
            <a:ext cx="347472" cy="347472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3232" y="1783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207008" y="1600200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KQL for Sentinel / Defender XDR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441448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13232" y="2624328"/>
            <a:ext cx="347472" cy="347472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3232" y="2624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207008" y="2441448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Sigma rules and conversion to multiple SIEMs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282696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13232" y="3465576"/>
            <a:ext cx="347472" cy="347472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3232" y="34655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07008" y="3282696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CloudTrail-based detections for AWS identity events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17920" y="1600200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82512" y="1783080"/>
            <a:ext cx="347472" cy="347472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382512" y="1783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876288" y="1600200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Detection quality: false-positive tuning, enrichment, test cases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17920" y="2441448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82512" y="2624328"/>
            <a:ext cx="347472" cy="347472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382512" y="2624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876288" y="2441448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Packaging detections with reproduction steps and playbooks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66C4"/>
                </a:solidFill>
              </a:rPr>
              <a:t>LEARNING OBJECTIVES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By the end of this week you can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W27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459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66C4"/>
                </a:solidFill>
              </a:rPr>
              <a:t>✓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6459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24D"/>
                </a:solidFill>
              </a:rPr>
              <a:t>Write and tune KQL and Sigma detections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234440" y="2395728"/>
            <a:ext cx="10149840" cy="0"/>
          </a:xfrm>
          <a:prstGeom prst="line">
            <a:avLst/>
          </a:prstGeom>
          <a:noFill/>
          <a:ln w="12700">
            <a:solidFill>
              <a:srgbClr val="D6E0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5603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66C4"/>
                </a:solidFill>
              </a:rPr>
              <a:t>✓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5603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24D"/>
                </a:solidFill>
              </a:rPr>
              <a:t>Build CloudTrail detections for risky IAM events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234440" y="3310128"/>
            <a:ext cx="10149840" cy="0"/>
          </a:xfrm>
          <a:prstGeom prst="line">
            <a:avLst/>
          </a:prstGeom>
          <a:noFill/>
          <a:ln w="12700">
            <a:solidFill>
              <a:srgbClr val="D6E0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4747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66C4"/>
                </a:solidFill>
              </a:rPr>
              <a:t>✓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4747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24D"/>
                </a:solidFill>
              </a:rPr>
              <a:t>Document each detection to a repeatable standard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234440" y="4224528"/>
            <a:ext cx="10149840" cy="0"/>
          </a:xfrm>
          <a:prstGeom prst="line">
            <a:avLst/>
          </a:prstGeom>
          <a:noFill/>
          <a:ln w="12700">
            <a:solidFill>
              <a:srgbClr val="D6E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43891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66C4"/>
                </a:solidFill>
              </a:rPr>
              <a:t>✓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3891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24D"/>
                </a:solidFill>
              </a:rPr>
              <a:t>Ship the 12-detection pack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66C4"/>
                </a:solidFill>
              </a:rPr>
              <a:t>CORE CONCEPTS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ideas that matter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W27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84248"/>
            <a:ext cx="544068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240280"/>
            <a:ext cx="182880" cy="182880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52144" y="213055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</a:rPr>
              <a:t>KQL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59536" y="2642616"/>
            <a:ext cx="48920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4324D"/>
                </a:solidFill>
              </a:rPr>
              <a:t>Sentinel's query language. Join sign-in + audit logs to spot abuse.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984248"/>
            <a:ext cx="544068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01968" y="2240280"/>
            <a:ext cx="182880" cy="182880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912864" y="213055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</a:rPr>
              <a:t>Sigma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620256" y="2642616"/>
            <a:ext cx="48920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4324D"/>
                </a:solidFill>
              </a:rPr>
              <a:t>Vendor-neutral rule format; convert to Sentinel, Splunk, Elastic.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087368"/>
            <a:ext cx="544068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41248" y="4343400"/>
            <a:ext cx="182880" cy="182880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152144" y="423367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</a:rPr>
              <a:t>Tuning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59536" y="4745736"/>
            <a:ext cx="48920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4324D"/>
                </a:solidFill>
              </a:rPr>
              <a:t>Enrich and baseline to cut false positives — an untuned rule gets ignored.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4087368"/>
            <a:ext cx="544068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601968" y="4343400"/>
            <a:ext cx="182880" cy="182880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912864" y="423367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</a:rPr>
              <a:t>Repeatability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620256" y="4745736"/>
            <a:ext cx="48920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4324D"/>
                </a:solidFill>
              </a:rPr>
              <a:t>Each detection ships with logs, repro steps, FP/TP notes and a playbook.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66C4"/>
                </a:solidFill>
              </a:rPr>
              <a:t>HOW IT FITS TOGETHER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Detection Engineering — the flow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W27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0A1A3F"/>
          </a:solidFill>
          <a:ln w="19050">
            <a:solidFill>
              <a:srgbClr val="0A1A3F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A6E0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Hypothesis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414016" y="3538728"/>
            <a:ext cx="384048" cy="329184"/>
          </a:xfrm>
          <a:prstGeom prst="chevron">
            <a:avLst/>
          </a:prstGeom>
          <a:solidFill>
            <a:srgbClr val="1766C4"/>
          </a:solidFill>
          <a:ln/>
        </p:spPr>
      </p:sp>
      <p:sp>
        <p:nvSpPr>
          <p:cNvPr id="9" name="Shape 7"/>
          <p:cNvSpPr/>
          <p:nvPr/>
        </p:nvSpPr>
        <p:spPr>
          <a:xfrm>
            <a:off x="2862072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EEF3FB"/>
          </a:solidFill>
          <a:ln w="19050">
            <a:solidFill>
              <a:srgbClr val="1766C4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2953512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66C4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935224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1A3F"/>
                </a:solidFill>
              </a:rPr>
              <a:t>Query (KQL/Sigma)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727448" y="3538728"/>
            <a:ext cx="384048" cy="329184"/>
          </a:xfrm>
          <a:prstGeom prst="chevron">
            <a:avLst/>
          </a:prstGeom>
          <a:solidFill>
            <a:srgbClr val="1766C4"/>
          </a:solidFill>
          <a:ln/>
        </p:spPr>
      </p:sp>
      <p:sp>
        <p:nvSpPr>
          <p:cNvPr id="13" name="Shape 11"/>
          <p:cNvSpPr/>
          <p:nvPr/>
        </p:nvSpPr>
        <p:spPr>
          <a:xfrm>
            <a:off x="5175504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EEF3FB"/>
          </a:solidFill>
          <a:ln w="19050">
            <a:solidFill>
              <a:srgbClr val="1766C4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266944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66C4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248656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1A3F"/>
                </a:solidFill>
              </a:rPr>
              <a:t>Test on sample logs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040880" y="3538728"/>
            <a:ext cx="384048" cy="329184"/>
          </a:xfrm>
          <a:prstGeom prst="chevron">
            <a:avLst/>
          </a:prstGeom>
          <a:solidFill>
            <a:srgbClr val="1766C4"/>
          </a:solidFill>
          <a:ln/>
        </p:spPr>
      </p:sp>
      <p:sp>
        <p:nvSpPr>
          <p:cNvPr id="17" name="Shape 15"/>
          <p:cNvSpPr/>
          <p:nvPr/>
        </p:nvSpPr>
        <p:spPr>
          <a:xfrm>
            <a:off x="7488936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EEF3FB"/>
          </a:solidFill>
          <a:ln w="19050">
            <a:solidFill>
              <a:srgbClr val="1766C4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580376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66C4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562088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1A3F"/>
                </a:solidFill>
              </a:rPr>
              <a:t>Tune FPs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354312" y="3538728"/>
            <a:ext cx="384048" cy="329184"/>
          </a:xfrm>
          <a:prstGeom prst="chevron">
            <a:avLst/>
          </a:prstGeom>
          <a:solidFill>
            <a:srgbClr val="1766C4"/>
          </a:solidFill>
          <a:ln/>
        </p:spPr>
      </p:sp>
      <p:sp>
        <p:nvSpPr>
          <p:cNvPr id="21" name="Shape 19"/>
          <p:cNvSpPr/>
          <p:nvPr/>
        </p:nvSpPr>
        <p:spPr>
          <a:xfrm>
            <a:off x="9802368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0A1A3F"/>
          </a:solidFill>
          <a:ln w="19050">
            <a:solidFill>
              <a:srgbClr val="0A1A3F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9893808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A6E0"/>
                </a:solidFill>
              </a:rPr>
              <a:t>5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875520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Package + playbook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892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B8C"/>
                </a:solidFill>
              </a:rPr>
              <a:t>Each stage is a control point — identity is verified, scoped and logged before the next step runs.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6E0"/>
                </a:solidFill>
              </a:rPr>
              <a:t>🔨 HANDS-ON LAB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Build the 12-Detection Pack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86400" cy="502920"/>
          </a:xfrm>
          <a:prstGeom prst="roundRect">
            <a:avLst>
              <a:gd name="adj" fmla="val 18182"/>
            </a:avLst>
          </a:prstGeom>
          <a:solidFill>
            <a:srgbClr val="14264F"/>
          </a:solidFill>
          <a:ln w="12700">
            <a:solidFill>
              <a:srgbClr val="1766C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63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A6E0"/>
                </a:solidFill>
              </a:rPr>
              <a:t>PLATFORM  </a:t>
            </a:r>
            <a:pPr indent="0" marL="0">
              <a:buNone/>
            </a:pPr>
            <a:r>
              <a:rPr lang="en-US" sz="1100" dirty="0">
                <a:solidFill>
                  <a:srgbClr val="D6E3F7"/>
                </a:solidFill>
              </a:rPr>
              <a:t>Sentinel + Sigma + AWS CloudTrail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263640" y="1463040"/>
            <a:ext cx="5486400" cy="502920"/>
          </a:xfrm>
          <a:prstGeom prst="roundRect">
            <a:avLst>
              <a:gd name="adj" fmla="val 18182"/>
            </a:avLst>
          </a:prstGeom>
          <a:solidFill>
            <a:srgbClr val="14264F"/>
          </a:solidFill>
          <a:ln w="12700">
            <a:solidFill>
              <a:srgbClr val="1766C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46520" y="1463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A6E0"/>
                </a:solidFill>
              </a:rPr>
              <a:t>EST. TIME  </a:t>
            </a:r>
            <a:pPr indent="0" marL="0">
              <a:buNone/>
            </a:pPr>
            <a:r>
              <a:rPr lang="en-US" sz="1100" dirty="0">
                <a:solidFill>
                  <a:srgbClr val="D6E3F7"/>
                </a:solidFill>
              </a:rPr>
              <a:t>6 h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2276856"/>
            <a:ext cx="310896" cy="310896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22768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24128" y="22402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Write KQL for impossible-travel and MFA-fatigue sign-ins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583680" y="2258568"/>
            <a:ext cx="5029200" cy="576072"/>
          </a:xfrm>
          <a:prstGeom prst="roundRect">
            <a:avLst>
              <a:gd name="adj" fmla="val 6349"/>
            </a:avLst>
          </a:prstGeom>
          <a:solidFill>
            <a:srgbClr val="061233"/>
          </a:solidFill>
          <a:ln w="12700">
            <a:solidFill>
              <a:srgbClr val="1E356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93408" y="2258568"/>
            <a:ext cx="4846320" cy="576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SigninLogs | where ResultType == 0 | ... summarize by UserPrincipalName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94360" y="2962656"/>
            <a:ext cx="310896" cy="310896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94360" y="2962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24128" y="29260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Write Sigma rules for new OAuth consent and privileged-role assignment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4360" y="3648456"/>
            <a:ext cx="310896" cy="310896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94360" y="36484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24128" y="36118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Write CloudTrail detections: new access key, policy-version change, root login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94360" y="4334256"/>
            <a:ext cx="310896" cy="310896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94360" y="43342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024128" y="42976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Add sample logs and test cases for each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94360" y="5020056"/>
            <a:ext cx="310896" cy="310896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94360" y="5020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024128" y="49834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Tune to reduce false positives and document FP/TP notes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94360" y="5705856"/>
            <a:ext cx="310896" cy="310896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94360" y="57058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024128" y="56692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Package each with a response playbook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66C4"/>
                </a:solidFill>
              </a:rPr>
              <a:t>PROVE IT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Deliverable &amp; done-checklist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W27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17830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A3F"/>
                </a:solidFill>
              </a:rPr>
              <a:t>📦  Deliverable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3172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4324D"/>
                </a:solidFill>
              </a:rPr>
              <a:t>P6 complete: identity-detection-pack/ (12 detections) + zero-static-secrets demo, README and a LinkedIn post on NHI + ITDR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4937760"/>
            <a:ext cx="5029200" cy="685800"/>
          </a:xfrm>
          <a:prstGeom prst="roundRect">
            <a:avLst>
              <a:gd name="adj" fmla="val 8000"/>
            </a:avLst>
          </a:prstGeom>
          <a:solidFill>
            <a:srgbClr val="0A1A3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0120" y="493776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A6E0"/>
                </a:solidFill>
              </a:rPr>
              <a:t>Feeds → P6: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zero-static-secrets + identity-detection-pack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17830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A3F"/>
                </a:solidFill>
              </a:rPr>
              <a:t>✅  Done when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0" y="2377440"/>
            <a:ext cx="5212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01968" y="2560320"/>
            <a:ext cx="310896" cy="310896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601968" y="2560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2377440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24D"/>
                </a:solidFill>
              </a:rPr>
              <a:t>12 detections with repro + playbooks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0" y="3182112"/>
            <a:ext cx="5212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01968" y="3364992"/>
            <a:ext cx="310896" cy="310896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601968" y="33649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949440" y="3182112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24D"/>
                </a:solidFill>
              </a:rPr>
              <a:t>Rules tested on sample logs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0" y="3986784"/>
            <a:ext cx="5212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01968" y="4169664"/>
            <a:ext cx="310896" cy="310896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01968" y="41696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949440" y="3986784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24D"/>
                </a:solidFill>
              </a:rPr>
              <a:t>FP notes present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0" y="4791456"/>
            <a:ext cx="5212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01968" y="4974336"/>
            <a:ext cx="310896" cy="310896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601968" y="49743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949440" y="4791456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24D"/>
                </a:solidFill>
              </a:rPr>
              <a:t>P6 pinned on GitHub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26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6E0"/>
                </a:solidFill>
              </a:rPr>
              <a:t>🎤 INTERVIEW DRILL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0467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Rehearse the answer out loud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0A1A3F"/>
          </a:solidFill>
          <a:ln w="15875">
            <a:solidFill>
              <a:srgbClr val="1766C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20240"/>
            <a:ext cx="640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766C4"/>
                </a:solidFill>
              </a:rPr>
              <a:t>Q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920240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What makes a good detection versus a noisy one?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3337560"/>
            <a:ext cx="11064240" cy="2834640"/>
          </a:xfrm>
          <a:prstGeom prst="roundRect">
            <a:avLst>
              <a:gd name="adj" fmla="val 2581"/>
            </a:avLst>
          </a:prstGeom>
          <a:solidFill>
            <a:srgbClr val="0E2048"/>
          </a:solidFill>
          <a:ln w="15875">
            <a:solidFill>
              <a:srgbClr val="17C3B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3520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7C3B2"/>
                </a:solidFill>
              </a:rPr>
              <a:t>A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3566160"/>
            <a:ext cx="9875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CE7FA"/>
                </a:solidFill>
              </a:rPr>
              <a:t>A clear hypothesis tied to an ATT&amp;CK technique, a specific telemetry source, enrichment and baselining to cut false positives, documented test cases, and a response playbook — so the SOC trusts and acts on it rather than muting it.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66C4"/>
                </a:solidFill>
              </a:rPr>
              <a:t>FLAGSHIP PROJECT · P6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Zero-Static-Secrets &amp; Identity Threat Detection Pack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W27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5448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5A6B8C"/>
                </a:solidFill>
              </a:rPr>
              <a:t>A demo workload on EKS/AKS where CI/CD, pods and functions authenticate with zero long-lived credentials, plus a pack of twelve identity detections mapped to MITRE ATT&amp;CK with reproduction steps and response playbooks.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14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A3F"/>
                </a:solidFill>
              </a:rPr>
              <a:t>What you build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3118104"/>
            <a:ext cx="146304" cy="146304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926080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Demo app on EKS/AKS (or kind) with zero long-lived credentials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94360" y="3685032"/>
            <a:ext cx="146304" cy="146304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3493008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GitHub OIDC, EKS Pod Identity/IRSA and Azure workload identity federation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4360" y="4251960"/>
            <a:ext cx="146304" cy="146304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4059936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Secrets scanner proving no static secrets exist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4360" y="4818888"/>
            <a:ext cx="146304" cy="146304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4626864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Vault dynamic secrets for the one unavoidable legacy case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4360" y="5385816"/>
            <a:ext cx="146304" cy="146304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5193792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12 identity detections (KQL + Sigma + CloudTrail) with ATT&amp;CK mapping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4360" y="5952744"/>
            <a:ext cx="146304" cy="146304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68680" y="5760720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Per-detection: reproduction steps, sample logs, FP/TP notes, response playbook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25146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A3F"/>
                </a:solidFill>
              </a:rPr>
              <a:t>Compliance mapping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926080"/>
          <a:ext cx="52120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1089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Control</a:t>
                      </a:r>
                      <a:endParaRPr lang="en-US" sz="105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Requirement</a:t>
                      </a:r>
                      <a:endParaRPr lang="en-US" sz="105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ISO 27001:2022 A.8.5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Secure authentication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ISO 27001:2022 A.8.16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Monitoring activities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NIS2 Art. 21(2)(i)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Access control and asset management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DORA Art. 10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Detection of anomalous activities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023360"/>
            <a:ext cx="3840480" cy="3840480"/>
          </a:xfrm>
          <a:prstGeom prst="ellipse">
            <a:avLst/>
          </a:prstGeom>
          <a:ln w="12700">
            <a:solidFill>
              <a:srgbClr val="1766C4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737360" y="4114800"/>
            <a:ext cx="4389120" cy="4389120"/>
          </a:xfrm>
          <a:prstGeom prst="ellipse">
            <a:avLst/>
          </a:prstGeom>
          <a:ln w="12700">
            <a:solidFill>
              <a:srgbClr val="1766C4">
                <a:alpha val="33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0" y="4206240"/>
            <a:ext cx="4937760" cy="4937760"/>
          </a:xfrm>
          <a:prstGeom prst="ellipse">
            <a:avLst/>
          </a:prstGeom>
          <a:ln w="12700">
            <a:solidFill>
              <a:srgbClr val="1766C4">
                <a:alpha val="2100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0116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6E0"/>
                </a:solidFill>
              </a:rPr>
              <a:t>KEY TAKEAWAY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4688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Write and tune KQL and Sigma detections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2062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C3B2"/>
                </a:solidFill>
              </a:rPr>
              <a:t>Next up → Week 28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C7A9C"/>
                </a:solidFill>
              </a:rPr>
              <a:t>IAM &amp; Cloud Security Engineer — Zero to Hero  ·  Build first, certify second  ·  One identity spine: Wisła Bank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AM Cloud Security">
  <a:themeElements>
    <a:clrScheme name="IAM Cloud Security">
      <a:dk1>
        <a:srgbClr val="0A1A3F"/>
      </a:dk1>
      <a:lt1>
        <a:srgbClr val="FFFFFF"/>
      </a:lt1>
      <a:dk2>
        <a:srgbClr val="14264F"/>
      </a:dk2>
      <a:lt2>
        <a:srgbClr val="EEF3FB"/>
      </a:lt2>
      <a:accent1>
        <a:srgbClr val="2FA6E0"/>
      </a:accent1>
      <a:accent2>
        <a:srgbClr val="1766C4"/>
      </a:accent2>
      <a:accent3>
        <a:srgbClr val="17C3B2"/>
      </a:accent3>
      <a:accent4>
        <a:srgbClr val="F6A31A"/>
      </a:accent4>
      <a:accent5>
        <a:srgbClr val="E0457B"/>
      </a:accent5>
      <a:accent6>
        <a:srgbClr val="6C7A9C"/>
      </a:accent6>
      <a:hlink>
        <a:srgbClr val="2FA6E0"/>
      </a:hlink>
      <a:folHlink>
        <a:srgbClr val="17C3B2"/>
      </a:folHlink>
    </a:clrScheme>
    <a:fontScheme name="IAM Cloud Security">
      <a:majorFont>
        <a:latin typeface="Century Schoolboo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IAM and Cloud Security Engineer Program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27 — Writing Detections: KQL, Sigma &amp; the Detection Pack</dc:title>
  <dc:subject>PptxGenJS Presentation</dc:subject>
  <dc:creator>Stephen Omowumi</dc:creator>
  <cp:lastModifiedBy>Stephen Omowumi</cp:lastModifiedBy>
  <cp:revision>1</cp:revision>
  <dcterms:created xsi:type="dcterms:W3CDTF">2026-10-06T20:24:44Z</dcterms:created>
  <dcterms:modified xsi:type="dcterms:W3CDTF">2026-10-06T20:24:44Z</dcterms:modified>
</cp:coreProperties>
</file>